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MAESTRÍA · ESPACIO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Arquitectura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CFDAE0"/>
                </a:solidFill>
                <a:latin typeface="Cambria"/>
              </a:rPr>
              <a:t>Sesión 3 — Unidad 3 · Presentación del Reto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375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8FA5AF"/>
                </a:solidFill>
                <a:latin typeface="Calibri"/>
              </a:rPr>
              <a:t>Gobierno arquitectónico: quién decide, con qué reglas y cuánto cuesta decidir.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1874519"/>
            <a:ext cx="2651760" cy="30175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0" y="2331720"/>
            <a:ext cx="2651760" cy="301752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2788920"/>
            <a:ext cx="2651760" cy="301752"/>
          </a:xfrm>
          <a:prstGeom prst="rect">
            <a:avLst/>
          </a:prstGeom>
          <a:solidFill>
            <a:srgbClr val="9E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9680" y="3246120"/>
            <a:ext cx="2651760" cy="301752"/>
          </a:xfrm>
          <a:prstGeom prst="rect">
            <a:avLst/>
          </a:prstGeom>
          <a:solidFill>
            <a:srgbClr val="345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94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César Augusto Vega Fernández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875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FA5AF"/>
                </a:solidFill>
                <a:latin typeface="Calibri"/>
              </a:rPr>
              <a:t>Encuentro sincrónico · 2 horas · TOGAF® Standard, 10th Edition · COBIT® 2019 · ITIL®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EL RETO DE LA UNIDAD 3 · ACTIVIDADES EN LA PLATAFORMA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Tres decisiones razonables, una arquitectura que nadie eligió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931920" cy="3017520"/>
          </a:xfrm>
          <a:prstGeom prst="rect">
            <a:avLst/>
          </a:prstGeom>
          <a:solidFill>
            <a:srgbClr val="F6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33832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31424B"/>
                </a:solidFill>
                <a:latin typeface="Cambria"/>
              </a:rPr>
              <a:t>«Aquí nunca se decidió nada de arquitectura; se compró.»</a:t>
            </a:r>
          </a:p>
          <a:p/>
          <a:p>
            <a:r>
              <a:rPr sz="1500" b="0">
                <a:solidFill>
                  <a:srgbClr val="31424B"/>
                </a:solidFill>
                <a:latin typeface="Cambria"/>
              </a:rPr>
              <a:t>Hay comité de TI, pero decide presupuesto, no diseño. No hay principios escritos ni dónde escalar un desacuerdo.</a:t>
            </a:r>
          </a:p>
          <a:p/>
          <a:p>
            <a:r>
              <a:rPr sz="1400" b="0">
                <a:solidFill>
                  <a:srgbClr val="6B7A82"/>
                </a:solidFill>
                <a:latin typeface="Cambria"/>
              </a:rPr>
              <a:t>Gerencia de tecnología (CIO) · Red Salud Andina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645920"/>
            <a:ext cx="64008" cy="1051560"/>
          </a:xfrm>
          <a:prstGeom prst="rect">
            <a:avLst/>
          </a:prstGeom>
          <a:solidFill>
            <a:srgbClr val="345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10328" y="1645920"/>
            <a:ext cx="6595567" cy="105156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755648"/>
            <a:ext cx="62023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34535D"/>
                </a:solidFill>
                <a:latin typeface="Cambria"/>
              </a:rPr>
              <a:t>Actividad 3.1 · Presentación del reto</a:t>
            </a:r>
          </a:p>
          <a:p>
            <a:r>
              <a:rPr sz="1200" b="0">
                <a:solidFill>
                  <a:srgbClr val="31424B"/>
                </a:solidFill>
                <a:latin typeface="Calibri"/>
              </a:rPr>
              <a:t>Individual · formativa, sin nota. Dos comparativos de 1 página: COBIT 2019 frente a TOGAF, y la normativa colombiana y del MinTIC.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834639"/>
            <a:ext cx="64008" cy="1828800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10328" y="2834639"/>
            <a:ext cx="6595567" cy="182880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944368"/>
            <a:ext cx="620237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C2622C"/>
                </a:solidFill>
                <a:latin typeface="Cambria"/>
              </a:rPr>
              <a:t>Actividad 3.2 · Propuesta de sistema de gobierno arquitectónico</a:t>
            </a:r>
          </a:p>
          <a:p>
            <a:r>
              <a:rPr sz="1200" b="0">
                <a:solidFill>
                  <a:srgbClr val="31424B"/>
                </a:solidFill>
                <a:latin typeface="Calibri"/>
              </a:rPr>
              <a:t>Grupal, de 3 a 4 · 20 % · 20 horas</a:t>
            </a:r>
          </a:p>
          <a:p>
            <a:r>
              <a:rPr sz="1200" b="0">
                <a:solidFill>
                  <a:srgbClr val="31424B"/>
                </a:solidFill>
                <a:latin typeface="Calibri"/>
              </a:rPr>
              <a:t>ARB con al menos 4 roles, frecuencia y proceso de decisión · 8 principios o más</a:t>
            </a:r>
          </a:p>
          <a:p>
            <a:r>
              <a:rPr sz="1200" b="0">
                <a:solidFill>
                  <a:srgbClr val="31424B"/>
                </a:solidFill>
                <a:latin typeface="Calibri"/>
              </a:rPr>
              <a:t>Revisión de cumplimiento con excepciones · 5 métricas y 3 riesgos</a:t>
            </a:r>
          </a:p>
          <a:p>
            <a:r>
              <a:rPr sz="1200" b="0">
                <a:solidFill>
                  <a:srgbClr val="31424B"/>
                </a:solidFill>
                <a:latin typeface="Calibri"/>
              </a:rPr>
              <a:t>APO03 y otro objetivo de COBIT 2019 · PDF de máximo 15 páginas, en APA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46320"/>
            <a:ext cx="10820095" cy="77724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001768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mbria"/>
              </a:rPr>
              <a:t>Rúbrica de la 3.2 (sobre 5,0): ARB y principios 1,5 · proceso de cumplimiento 1,5 · métricas y riesgos 1,25 · COBIT e ITIL 0,75.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Los </a:t>
            </a:r>
            <a:r>
              <a:rPr sz="1000" b="1">
                <a:solidFill>
                  <a:srgbClr val="6B7A82"/>
                </a:solidFill>
                <a:latin typeface="Calibri"/>
              </a:rPr>
              <a:t>F-nn</a:t>
            </a:r>
            <a:r>
              <a:rPr sz="1000" b="0">
                <a:solidFill>
                  <a:srgbClr val="6B7A82"/>
                </a:solidFill>
                <a:latin typeface="Calibri"/>
              </a:rPr>
              <a:t> son los formatos del curso —las plantillas que preparan cada sección—, con numeración continua entre sesiones: F-05 a F-12 fueron de la Unidad 1, F-13 a F-20 de la Unidad 2 y F-21 a F-28 son los de esta. No se suben a la plataforma. · Fuente: las actividades 3.1 y 3.2, con su enunciado y su rúbrica. Caso: Red Salud Andina, dossier §4 y §10.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CÓMO VAMOS A USAR LAS DOS HORAS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Primero qué significa, después ejemplos, después ustedes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454298" cy="7315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1 ·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C2B33"/>
                </a:solidFill>
                <a:latin typeface="Cambria"/>
              </a:rPr>
              <a:t>Qué significa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345429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1424B"/>
                </a:solidFill>
                <a:latin typeface="Calibri"/>
              </a:rPr>
              <a:t>Qué es gobernar una arquitectura, qué pasa cuando no existe y con qué mecanismos se hace.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698" y="1645920"/>
            <a:ext cx="3454298" cy="73152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8698" y="182880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6707E"/>
                </a:solidFill>
                <a:latin typeface="Calibri"/>
              </a:rPr>
              <a:t>BLOQUE 2 · 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214884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C2B33"/>
                </a:solidFill>
                <a:latin typeface="Cambria"/>
              </a:rPr>
              <a:t>Ejemplos guiados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2788920"/>
            <a:ext cx="345429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1424B"/>
                </a:solidFill>
                <a:latin typeface="Calibri"/>
              </a:rPr>
              <a:t>Los mismos formatos que ustedes van a llenar, recorridos paso a paso con el caso.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596" y="1645920"/>
            <a:ext cx="3454298" cy="73152"/>
          </a:xfrm>
          <a:prstGeom prst="rect">
            <a:avLst/>
          </a:prstGeom>
          <a:solidFill>
            <a:srgbClr val="9E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51596" y="182880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E5C3B"/>
                </a:solidFill>
                <a:latin typeface="Calibri"/>
              </a:rPr>
              <a:t>BLOQUE 3 · 48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1596" y="214884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C2B33"/>
                </a:solidFill>
                <a:latin typeface="Cambria"/>
              </a:rPr>
              <a:t>Ustedes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596" y="2788920"/>
            <a:ext cx="345429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1424B"/>
                </a:solidFill>
                <a:latin typeface="Calibri"/>
              </a:rPr>
              <a:t>Un taller en salas de 27 minutos, la puesta en común y el cierre.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977639"/>
            <a:ext cx="1737358" cy="356616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32503"/>
            <a:ext cx="1554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Minuto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3977639"/>
            <a:ext cx="9079990" cy="356616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4032503"/>
            <a:ext cx="88971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Qué pasa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334255"/>
            <a:ext cx="1737358" cy="356614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89119"/>
            <a:ext cx="1554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0 a 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4334255"/>
            <a:ext cx="9079990" cy="356614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89119"/>
            <a:ext cx="889711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El reto y el significado del gobierno arquitectónico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690871"/>
            <a:ext cx="1737358" cy="356614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45735"/>
            <a:ext cx="1554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25 a 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4690871"/>
            <a:ext cx="9079990" cy="356614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600" y="4745735"/>
            <a:ext cx="889711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La Actividad 3.1, guiada · pausa de 15 minutos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047487"/>
            <a:ext cx="1737358" cy="356614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102351"/>
            <a:ext cx="1554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47 a 72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5047487"/>
            <a:ext cx="9079990" cy="356614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5102351"/>
            <a:ext cx="889711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Ejemplos guiados de la 3.2: del episodio al principio, a la pregunta y a la silla del ARB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404103"/>
            <a:ext cx="1737358" cy="356614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458967"/>
            <a:ext cx="1554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72 a 120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23160" y="5404103"/>
            <a:ext cx="9079990" cy="356614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14600" y="5458967"/>
            <a:ext cx="889711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Taller en salas (27 min), puesta en común (12 min) y cierre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Una sola actividad en salas, al final: el resto de la sesión es para llegar a ella sabiendo qué hacer.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1 · QUÉ SIGNIFICA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Gobernar no es diseñar: es decidir qué diseño es aceptable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454298" cy="420624"/>
          </a:xfrm>
          <a:prstGeom prst="rect">
            <a:avLst/>
          </a:prstGeom>
          <a:solidFill>
            <a:srgbClr val="345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37360"/>
            <a:ext cx="31251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Gobierno de inversión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66544"/>
            <a:ext cx="3454298" cy="250545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94560"/>
            <a:ext cx="3125114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Decide </a:t>
            </a:r>
            <a:r>
              <a:rPr sz="1350" b="1">
                <a:solidFill>
                  <a:srgbClr val="31424B"/>
                </a:solidFill>
                <a:latin typeface="Calibri"/>
              </a:rPr>
              <a:t>qué proyectos se financian</a:t>
            </a:r>
            <a:r>
              <a:rPr sz="1350" b="0">
                <a:solidFill>
                  <a:srgbClr val="31424B"/>
                </a:solidFill>
                <a:latin typeface="Calibri"/>
              </a:rPr>
              <a:t> y en qué orden.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Es lo que hace hoy el comité de TI del caso: mira el caso de negocio, no el diseño.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698" y="1645920"/>
            <a:ext cx="3454298" cy="42062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290" y="1737360"/>
            <a:ext cx="31251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Gobierno de arquitectura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066544"/>
            <a:ext cx="3454298" cy="250545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3290" y="2194560"/>
            <a:ext cx="3125114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Decide </a:t>
            </a:r>
            <a:r>
              <a:rPr sz="1350" b="1">
                <a:solidFill>
                  <a:srgbClr val="31424B"/>
                </a:solidFill>
                <a:latin typeface="Calibri"/>
              </a:rPr>
              <a:t>si una solución es conforme</a:t>
            </a:r>
            <a:r>
              <a:rPr sz="1350" b="0">
                <a:solidFill>
                  <a:srgbClr val="31424B"/>
                </a:solidFill>
                <a:latin typeface="Calibri"/>
              </a:rPr>
              <a:t> con los principios y la arquitectura objetivo.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Otorga o niega excepciones, y las registra con vencimiento.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596" y="1645920"/>
            <a:ext cx="3454298" cy="420624"/>
          </a:xfrm>
          <a:prstGeom prst="rect">
            <a:avLst/>
          </a:prstGeom>
          <a:solidFill>
            <a:srgbClr val="9E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6188" y="1737360"/>
            <a:ext cx="31251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Gobierno y gestión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1596" y="2066544"/>
            <a:ext cx="3454298" cy="250545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6188" y="2194560"/>
            <a:ext cx="3125114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El gobierno </a:t>
            </a:r>
            <a:r>
              <a:rPr sz="1350" b="1">
                <a:solidFill>
                  <a:srgbClr val="31424B"/>
                </a:solidFill>
                <a:latin typeface="Calibri"/>
              </a:rPr>
              <a:t>evalúa, dirige y supervisa</a:t>
            </a:r>
            <a:r>
              <a:rPr sz="1350" b="0">
                <a:solidFill>
                  <a:srgbClr val="31424B"/>
                </a:solidFill>
                <a:latin typeface="Calibri"/>
              </a:rPr>
              <a:t>; la gestión planea, construye y ejecuta (ISACA, 2018).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El ARB no diseña la solución del proyecto: dice si es aceptable.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00600"/>
            <a:ext cx="10820095" cy="8229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956048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mbria"/>
              </a:rPr>
              <a:t>El valor del gobierno no se ve en lo que pasa cuando funciona, sino en los problemas que no ocurren. Por eso cuesta tanto defenderlo con un caso de negocio.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TOGAF 10, Enterprise Architecture Capability and Governance. COBIT 2019 separa gobierno (EDM) de gestión (APO, BAI, DSS, MEA).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1 · QUÉ PASA CUANDO NO EXISTE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Tres equipos, tres decisiones razonables, ninguna gobernada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454298" cy="420624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37360"/>
            <a:ext cx="31251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Telemedicina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66544"/>
            <a:ext cx="3454298" cy="250545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94560"/>
            <a:ext cx="3125114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La plataforma de teleconsulta trae su propio módulo de agenda, que duplica la capacidad que presta AGENDA-WEB.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7A82"/>
                </a:solidFill>
                <a:latin typeface="Calibri"/>
              </a:rPr>
              <a:t>Hoy: Se firmó porque «venía incluido». Hoy hay dos agendas que no se hablan.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698" y="1645920"/>
            <a:ext cx="3454298" cy="42062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290" y="1737360"/>
            <a:ext cx="31251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Laboratorio B2B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066544"/>
            <a:ext cx="3454298" cy="250545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3290" y="2194560"/>
            <a:ext cx="3125114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PORTAL-B2B consulta directamente la base de datos de LIS-LAB porque la interfaz formal tomaba seis semanas y el cliente empezaba en tres.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7A82"/>
                </a:solidFill>
                <a:latin typeface="Calibri"/>
              </a:rPr>
              <a:t>Hoy: Nadie lo supo hasta 2024. La actualización mayor del LIS está aplazada porque nadie sabe qué se rompe.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596" y="1645920"/>
            <a:ext cx="3454298" cy="420624"/>
          </a:xfrm>
          <a:prstGeom prst="rect">
            <a:avLst/>
          </a:prstGeom>
          <a:solidFill>
            <a:srgbClr val="9E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6188" y="1737360"/>
            <a:ext cx="31251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Portal del paciente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1596" y="2066544"/>
            <a:ext cx="3454298" cy="250545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6188" y="2194560"/>
            <a:ext cx="3125114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El proveedor levantó el servicio en su propia nube, distinta a la que la organización ya usaba.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7A82"/>
                </a:solidFill>
                <a:latin typeface="Calibri"/>
              </a:rPr>
              <a:t>Hoy: Nadie lo objetó: no había lineamiento que objetar. Hoy hay tres servicios en dos nubes distintas.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00600"/>
            <a:ext cx="10820095" cy="8229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956048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mbria"/>
              </a:rPr>
              <a:t>Ninguno de los tres equipos actuó de mala fe. No había norma frente a la cual excepcionar: el problema no es de personas, es de gobierno.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Red Salud Andina, dossier §10. Estos tres episodios vuelven en los ejemplos guiados y son el modelo de lo que ustedes harán en el taller.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1 · CON QUÉ SE GOBIERNA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Tres mecanismos, y ninguno funciona solo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454298" cy="420624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37360"/>
            <a:ext cx="31251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Quién decide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66544"/>
            <a:ext cx="3454298" cy="259689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94560"/>
            <a:ext cx="3125114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El </a:t>
            </a:r>
            <a:r>
              <a:rPr sz="1300" b="1">
                <a:solidFill>
                  <a:srgbClr val="31424B"/>
                </a:solidFill>
                <a:latin typeface="Calibri"/>
              </a:rPr>
              <a:t>Architecture Review Board</a:t>
            </a:r>
            <a:r>
              <a:rPr sz="1300" b="0">
                <a:solidFill>
                  <a:srgbClr val="31424B"/>
                </a:solidFill>
                <a:latin typeface="Calibri"/>
              </a:rPr>
              <a:t>: el órgano que dictamina si una iniciativa es conforme.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Pequeño —4 o 5 permanentes, nunca más de 10—, con mandato de un órgano superior y con horas reales.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698" y="1645920"/>
            <a:ext cx="3454298" cy="42062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290" y="1737360"/>
            <a:ext cx="31251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Con qué regla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066544"/>
            <a:ext cx="3454298" cy="259689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3290" y="2194560"/>
            <a:ext cx="3125114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Los </a:t>
            </a:r>
            <a:r>
              <a:rPr sz="1300" b="1">
                <a:solidFill>
                  <a:srgbClr val="31424B"/>
                </a:solidFill>
                <a:latin typeface="Calibri"/>
              </a:rPr>
              <a:t>principios</a:t>
            </a:r>
            <a:r>
              <a:rPr sz="1300" b="0">
                <a:solidFill>
                  <a:srgbClr val="31424B"/>
                </a:solidFill>
                <a:latin typeface="Calibri"/>
              </a:rPr>
              <a:t>: reglas duraderas con nombre, enunciado, motivación e implicaciones.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Salen de hechos de la organización. Si nadie estaría en desacuerdo, no restringen nada.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596" y="1645920"/>
            <a:ext cx="3454298" cy="420624"/>
          </a:xfrm>
          <a:prstGeom prst="rect">
            <a:avLst/>
          </a:prstGeom>
          <a:solidFill>
            <a:srgbClr val="9E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6188" y="1737360"/>
            <a:ext cx="31251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En qué momento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1596" y="2066544"/>
            <a:ext cx="3454298" cy="259689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6188" y="2194560"/>
            <a:ext cx="3125114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La </a:t>
            </a:r>
            <a:r>
              <a:rPr sz="1300" b="1">
                <a:solidFill>
                  <a:srgbClr val="31424B"/>
                </a:solidFill>
                <a:latin typeface="Calibri"/>
              </a:rPr>
              <a:t>revisión de cumplimiento</a:t>
            </a:r>
            <a:r>
              <a:rPr sz="1300" b="0">
                <a:solidFill>
                  <a:srgbClr val="31424B"/>
                </a:solidFill>
                <a:latin typeface="Calibri"/>
              </a:rPr>
              <a:t>: qué se revisa, cuándo y con qué lista.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R0 idea · R1 diseño · R2 salida a producción. Termina en un dictamen escrito.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92040"/>
            <a:ext cx="10820095" cy="77724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047488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mbria"/>
              </a:rPr>
              <a:t>Un ARB sin principios decide por gusto. Unos principios sin revisión son un póster. Una revisión sin ARB no tiene quién firme.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1 · EL CORAZÓN DEL ASUNTO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La excepción: lo que separa el gobierno del trámite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295747" cy="420624"/>
          </a:xfrm>
          <a:prstGeom prst="rect">
            <a:avLst/>
          </a:prstGeom>
          <a:solidFill>
            <a:srgbClr val="345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3736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Sin ruta de excepción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66544"/>
            <a:ext cx="5295747" cy="186537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94560"/>
            <a:ext cx="496656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El equipo con un plazo real tiene dos salidas: mentir o construir por fuera.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Es lo que pasó con el portal del laboratorio: nadie en TI lo supo hasta 2024.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645920"/>
            <a:ext cx="5295747" cy="42062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4739" y="173736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Con ruta de excepción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066544"/>
            <a:ext cx="5295747" cy="186537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4739" y="2194560"/>
            <a:ext cx="496656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La desviación se acepta, pero se escribe: principio, riesgo, dueño, plan de retorno y </a:t>
            </a:r>
            <a:r>
              <a:rPr sz="1350" b="1">
                <a:solidFill>
                  <a:srgbClr val="31424B"/>
                </a:solidFill>
                <a:latin typeface="Calibri"/>
              </a:rPr>
              <a:t>vencimiento</a:t>
            </a:r>
            <a:r>
              <a:rPr sz="1350" b="0">
                <a:solidFill>
                  <a:srgbClr val="31424B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Si deja deuda, abre una partida en el registro de la Unidad 2, con su interés mensual.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160520"/>
            <a:ext cx="2926078" cy="329184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15384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Dictamen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4160520"/>
            <a:ext cx="7891270" cy="329184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4215384"/>
            <a:ext cx="77083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Qué significa para el proyecto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89704"/>
            <a:ext cx="2926078" cy="329182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445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Conforme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4489704"/>
            <a:ext cx="7891270" cy="329182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4544568"/>
            <a:ext cx="7708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Sigue sin condiciones.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818888"/>
            <a:ext cx="2926078" cy="329182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737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Conforme con condiciones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4818888"/>
            <a:ext cx="7891270" cy="329182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4873752"/>
            <a:ext cx="7708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Sigue si cumple las condiciones escritas en el dictamen, que se verifican en R2.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148072"/>
            <a:ext cx="2926078" cy="329182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0293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Excepción con vencimiento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5148072"/>
            <a:ext cx="7891270" cy="329182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5202936"/>
            <a:ext cx="7708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Se acepta una desviación de un principio por un tiempo acotado, con plan de retorno, dueño y registro. No aplica a P1 ni a P6.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477256"/>
            <a:ext cx="2926078" cy="329182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3212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No conforme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5477256"/>
            <a:ext cx="7891270" cy="329182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5532120"/>
            <a:ext cx="7708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Se devuelve: no puede seguir hasta corregir.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Los cuatro dictámenes traducen los seis niveles de conformidad de TOGAF a lo que el proyecto necesita saber.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1 · DÓNDE ENCAJA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COBIT dice qué debe existir; TOGAF, cómo operarlo; ITIL, por dónde pasa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828798" cy="38404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Marco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645920"/>
            <a:ext cx="3840478" cy="38404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70078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Qué aporta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645920"/>
            <a:ext cx="5148070" cy="38404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00784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Lo que hay que saber hoy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29968"/>
            <a:ext cx="1828798" cy="8686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COBIT 2019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029968"/>
            <a:ext cx="3840478" cy="8686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084832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Qué debe lograr el gobierno de la información y la tecnología en toda la empresa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029968"/>
            <a:ext cx="5148070" cy="8686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84832"/>
            <a:ext cx="496519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APO03 es «arquitectura empresarial gestionada»: el objetivo que el ARB opera. Niveles de capacidad de 0 a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898648"/>
            <a:ext cx="1828798" cy="77723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53512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TOGAF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898648"/>
            <a:ext cx="3840478" cy="77723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295351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Cómo se gobierna la arquitectura: órgano, proceso y criterios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898648"/>
            <a:ext cx="5148070" cy="77723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953512"/>
            <a:ext cx="4965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Architecture Board · revisión de cumplimiento · dispensas · contratos de arquitectura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675888"/>
            <a:ext cx="1828798" cy="77723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30752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ITIL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675888"/>
            <a:ext cx="3840478" cy="77723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373075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Por dónde pasa el gobierno en la operación diaria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3675888"/>
            <a:ext cx="5148070" cy="77723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730752"/>
            <a:ext cx="4965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Habilitación del cambio: ningún cambio mayor a producción sin el dictamen del ARB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754880"/>
            <a:ext cx="10820095" cy="8229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910328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mbria"/>
              </a:rPr>
              <a:t>Ojo con una trampa de la rúbrica: EDM01 es un objetivo de gobierno, no de gestión. Se puede mencionar, pero no cuenta como el segundo objetivo que piden.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La 3.2 pide APO03 y al menos otro objetivo de gestión, con nivel actual, objetivo y plazo.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LA ACTIVIDAD 3.1, GUIADA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Dos comparativos de una página, individuales y sin nota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5295747" cy="457200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91640"/>
            <a:ext cx="496656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A · COBIT 2019 frente a TOGAF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5295747" cy="187452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85416"/>
            <a:ext cx="4966563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Una fila resuelta, para que vean la forma: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1424B"/>
                </a:solidFill>
                <a:latin typeface="Calibri"/>
              </a:rPr>
              <a:t>Órgano que decide</a:t>
            </a:r>
            <a:r>
              <a:rPr sz="1250" b="0">
                <a:solidFill>
                  <a:srgbClr val="31424B"/>
                </a:solidFill>
                <a:latin typeface="Calibri"/>
              </a:rPr>
              <a:t> · COBIT: no lo prescribe, reparte responsabilidades por práctica · TOGAF: el Architecture Board, con tamaño y mandato.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6B7A82"/>
                </a:solidFill>
                <a:latin typeface="Calibri"/>
              </a:rPr>
              <a:t>Así no: dos párrafos que describen cada marco por separado. Eso es un resumen, no un comparativo.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600200"/>
            <a:ext cx="5295747" cy="457200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4739" y="1691640"/>
            <a:ext cx="496656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B · La normativa colombiana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057400"/>
            <a:ext cx="5295747" cy="187452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4739" y="2185416"/>
            <a:ext cx="4966563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Una norma resuelta: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1424B"/>
                </a:solidFill>
                <a:latin typeface="Calibri"/>
              </a:rPr>
              <a:t>Resolución 1978 de 2023</a:t>
            </a:r>
            <a:r>
              <a:rPr sz="1250" b="0">
                <a:solidFill>
                  <a:srgbClr val="31424B"/>
                </a:solidFill>
                <a:latin typeface="Calibri"/>
              </a:rPr>
              <a:t> (MRAE v3) · obliga a los sujetos obligados del Decreto 1078 de 2015 · a una IPS privada </a:t>
            </a:r>
            <a:r>
              <a:rPr sz="1250" b="1">
                <a:solidFill>
                  <a:srgbClr val="31424B"/>
                </a:solidFill>
                <a:latin typeface="Calibri"/>
              </a:rPr>
              <a:t>no</a:t>
            </a:r>
            <a:r>
              <a:rPr sz="1250" b="0">
                <a:solidFill>
                  <a:srgbClr val="31424B"/>
                </a:solidFill>
                <a:latin typeface="Calibri"/>
              </a:rPr>
              <a:t> la obliga: es referencia.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6B7A82"/>
                </a:solidFill>
                <a:latin typeface="Calibri"/>
              </a:rPr>
              <a:t>El comparativo se juega en la obligatoriedad: qué los obliga a ustedes y por qué.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206240"/>
            <a:ext cx="2377438" cy="3657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6110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Qué entregan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4206240"/>
            <a:ext cx="4206238" cy="3657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426110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Con qué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4206240"/>
            <a:ext cx="4233670" cy="3657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261104"/>
            <a:ext cx="4050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Cuándo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572000"/>
            <a:ext cx="2377438" cy="6400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2686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Dos páginas, una por comparativo, en APA 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4572000"/>
            <a:ext cx="4206238" cy="6400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4626864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F-21 y la guía de la Actividad 3.1; pestañas del Mapa COBIT · TOGAF · ITIL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4572000"/>
            <a:ext cx="4233670" cy="6400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4626864"/>
            <a:ext cx="4050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Fuera de clase, individual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440680"/>
            <a:ext cx="10820095" cy="56692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596128"/>
            <a:ext cx="1008857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mbria"/>
              </a:rPr>
              <a:t>Pausa de quince minutos. Volvemos en punto: al regresar empiezan los ejemplos guiados de la 3.2.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Normas verificadas en septiembre de 2026; confirmen vigencia en el normograma del MinTIC o del Ministerio de Salud antes de citarlas.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2 · EJEMPLO GUIADO 1 · F-23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Del episodio al principio, paso a paso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566928" cy="69494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2728" y="1481328"/>
            <a:ext cx="10253167" cy="69494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591056"/>
            <a:ext cx="981425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C2B33"/>
                </a:solidFill>
                <a:latin typeface="Calibri"/>
              </a:rPr>
              <a:t>1 · Tomen el episodio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1424B"/>
                </a:solidFill>
                <a:latin typeface="Calibri"/>
              </a:rPr>
              <a:t>«Un cambio de esquema en una tabla de HIS-CORE dejó tres días sin facturar, porque FACT-SALUD leía esa tabla directamente.»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67712"/>
            <a:ext cx="566928" cy="69494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1401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2267712"/>
            <a:ext cx="10253167" cy="69494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377440"/>
            <a:ext cx="981425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C2B33"/>
                </a:solidFill>
                <a:latin typeface="Calibri"/>
              </a:rPr>
              <a:t>2 · Pregunten qué regla lo habría evitado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1424B"/>
                </a:solidFill>
                <a:latin typeface="Calibri"/>
              </a:rPr>
              <a:t>No «qué estuvo mal», sino qué regla, escrita antes, habría hecho que alguien lo objetara.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54096"/>
            <a:ext cx="566928" cy="69494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054096"/>
            <a:ext cx="10253167" cy="69494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163824"/>
            <a:ext cx="981425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C2B33"/>
                </a:solidFill>
                <a:latin typeface="Calibri"/>
              </a:rPr>
              <a:t>3 · Escríbanla como enunciado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1424B"/>
                </a:solidFill>
                <a:latin typeface="Calibri"/>
              </a:rPr>
              <a:t>«Toda integración entre sistemas usa una interfaz publicada y versionada (API o mensaje); se prohíbe leer o escribir la base de datos de otro sistema.»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40480"/>
            <a:ext cx="566928" cy="69494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8678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2728" y="3840480"/>
            <a:ext cx="10253167" cy="69494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950208"/>
            <a:ext cx="981425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C2B33"/>
                </a:solidFill>
                <a:latin typeface="Calibri"/>
              </a:rPr>
              <a:t>4 · La motivación es el hecho, no la teoría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1424B"/>
                </a:solidFill>
                <a:latin typeface="Calibri"/>
              </a:rPr>
              <a:t>«Un cambio de esquema en HIS-CORE dejó tres días sin facturar; PORTAL-B2B lee la base de LIS-LAB y bloquea su actualización.»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626864"/>
            <a:ext cx="566928" cy="69494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731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52728" y="4626864"/>
            <a:ext cx="10253167" cy="69494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736592"/>
            <a:ext cx="981425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C2B33"/>
                </a:solidFill>
                <a:latin typeface="Calibri"/>
              </a:rPr>
              <a:t>5 · Las implicaciones dicen qué cuesta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1424B"/>
                </a:solidFill>
                <a:latin typeface="Calibri"/>
              </a:rPr>
              <a:t>«Las integraciones nuevas pasan por el bus o por API con contrato registrado. Las existentes que violan el principio entran al registro de deuda con fecha de retiro.»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486400"/>
            <a:ext cx="10820095" cy="53035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641848"/>
            <a:ext cx="10088575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ambria"/>
              </a:rPr>
              <a:t>La prueba: ¿alguien razonable estaría en desacuerdo? El gerente del laboratorio sí lo estaría, porque le cuesta seis semanas. Por eso es un principio.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Formato TOGAF: nombre, enunciado, motivación e implicaciones. Los cinco principios de la Unidad 1 (F-09) son el punto de partida.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2 · EJEMPLO GUIADO 2 · F-24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Del principio a la pregunta que lo detecta, y al dictamen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566928" cy="69494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2728" y="1481328"/>
            <a:ext cx="10253167" cy="69494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591056"/>
            <a:ext cx="981425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C2B33"/>
                </a:solidFill>
                <a:latin typeface="Calibri"/>
              </a:rPr>
              <a:t>1 · Conviertan el principio en pregunta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1424B"/>
                </a:solidFill>
                <a:latin typeface="Calibri"/>
              </a:rPr>
              <a:t>P3 → «¿Todas las integraciones usan una interfaz publicada y versionada? ¿Alguna lee la base de otro sistema?»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67712"/>
            <a:ext cx="566928" cy="69494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1401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2267712"/>
            <a:ext cx="10253167" cy="69494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377440"/>
            <a:ext cx="981425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C2B33"/>
                </a:solidFill>
                <a:latin typeface="Calibri"/>
              </a:rPr>
              <a:t>2 · Clasifiquen la iniciativa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1424B"/>
                </a:solidFill>
                <a:latin typeface="Calibri"/>
              </a:rPr>
              <a:t>El portal B2B integra con el LIS y entrega resultados clínicos a terceros: </a:t>
            </a:r>
            <a:r>
              <a:rPr sz="1200" b="1">
                <a:solidFill>
                  <a:srgbClr val="31424B"/>
                </a:solidFill>
                <a:latin typeface="Calibri"/>
              </a:rPr>
              <a:t>tipo A</a:t>
            </a:r>
            <a:r>
              <a:rPr sz="1200" b="0">
                <a:solidFill>
                  <a:srgbClr val="31424B"/>
                </a:solidFill>
                <a:latin typeface="Calibri"/>
              </a:rPr>
              <a:t>, revisión completa.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54096"/>
            <a:ext cx="566928" cy="69494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054096"/>
            <a:ext cx="10253167" cy="69494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163824"/>
            <a:ext cx="981425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C2B33"/>
                </a:solidFill>
                <a:latin typeface="Calibri"/>
              </a:rPr>
              <a:t>3 · Elijan el momento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1424B"/>
                </a:solidFill>
                <a:latin typeface="Calibri"/>
              </a:rPr>
              <a:t>R1 · diseño, por vía rápida en 72 horas: el plazo del cliente era real.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40480"/>
            <a:ext cx="566928" cy="69494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8678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2728" y="3840480"/>
            <a:ext cx="10253167" cy="69494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950208"/>
            <a:ext cx="981425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C2B33"/>
                </a:solidFill>
                <a:latin typeface="Calibri"/>
              </a:rPr>
              <a:t>4 · Respondan la lista y miren qué falla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1424B"/>
                </a:solidFill>
                <a:latin typeface="Calibri"/>
              </a:rPr>
              <a:t>Fallan las preguntas 1, 4 y 9 → P3 y P7. Nivel de conformidad de TOGAF: no conforme.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626864"/>
            <a:ext cx="566928" cy="69494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731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52728" y="4626864"/>
            <a:ext cx="10253167" cy="69494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736592"/>
            <a:ext cx="981425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C2B33"/>
                </a:solidFill>
                <a:latin typeface="Calibri"/>
              </a:rPr>
              <a:t>5 · Dictaminen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31424B"/>
                </a:solidFill>
                <a:latin typeface="Calibri"/>
              </a:rPr>
              <a:t>Excepción con vencimiento</a:t>
            </a:r>
            <a:r>
              <a:rPr sz="1200" b="0">
                <a:solidFill>
                  <a:srgbClr val="31424B"/>
                </a:solidFill>
                <a:latin typeface="Calibri"/>
              </a:rPr>
              <a:t>, porque P3 sí admite excepción. Si hubiera fallado P1 o P6, el único dictamen posible sería «no conforme».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486400"/>
            <a:ext cx="10820095" cy="53035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641848"/>
            <a:ext cx="10088575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mbria"/>
              </a:rPr>
              <a:t>Una lista de revisión que no está atada a principios mide cosas que nadie decidió gobernar.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Herramienta: Compliance Review, con los tres episodios precargados.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2 · EJEMPLO GUIADO 3 · F-22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¿Y quién tenía que haber dicho que no? Las sillas del ARB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566928" cy="868680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3337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2728" y="1600200"/>
            <a:ext cx="10253167" cy="86868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709928"/>
            <a:ext cx="98142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2B33"/>
                </a:solidFill>
                <a:latin typeface="Calibri"/>
              </a:rPr>
              <a:t>1 · Partan de la restricción, no del ideal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38 personas en TI, un solo arquitecto de soluciones, y el área no crece el próximo año (dossier §13).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78608"/>
            <a:ext cx="566928" cy="868680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1178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2578608"/>
            <a:ext cx="10253167" cy="86868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688336"/>
            <a:ext cx="98142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2B33"/>
                </a:solidFill>
                <a:latin typeface="Calibri"/>
              </a:rPr>
              <a:t>2 · Pregunten quién tenía que estar en esa decisión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Quien responde por la continuidad clínica, quien responde por la facturación, quien responde por la nube y los datos, y quien conoce la arquitectura.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57015"/>
            <a:ext cx="566928" cy="868680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90187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557015"/>
            <a:ext cx="10253167" cy="86868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666743"/>
            <a:ext cx="98142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2B33"/>
                </a:solidFill>
                <a:latin typeface="Calibri"/>
              </a:rPr>
              <a:t>3 · Denle cargo real a cada silla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Delegado de la Dirección médica · delegado de la Dirección financiera · líder de infraestructura y seguridad · el arquitecto de soluciones, liberado al 50 % · el CIO preside.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35423"/>
            <a:ext cx="566928" cy="868680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768595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2728" y="4535423"/>
            <a:ext cx="10253167" cy="86868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645151"/>
            <a:ext cx="98142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2B33"/>
                </a:solidFill>
                <a:latin typeface="Calibri"/>
              </a:rPr>
              <a:t>4 · Cuenten las horas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6 + 6 + 8 + 80 + 6 + 2 de invitados = </a:t>
            </a:r>
            <a:r>
              <a:rPr sz="1250" b="1">
                <a:solidFill>
                  <a:srgbClr val="31424B"/>
                </a:solidFill>
                <a:latin typeface="Calibri"/>
              </a:rPr>
              <a:t>108 h al mes</a:t>
            </a:r>
            <a:r>
              <a:rPr sz="1250" b="0">
                <a:solidFill>
                  <a:srgbClr val="31424B"/>
                </a:solidFill>
                <a:latin typeface="Calibri"/>
              </a:rPr>
              <a:t>, el 1,8 % de las 6.080 h del área.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486400"/>
            <a:ext cx="10820095" cy="53035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641848"/>
            <a:ext cx="10088575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mbria"/>
              </a:rPr>
              <a:t>Si una silla depende de contratar a alguien, el ARB no existe: su organización no va a crecer para gobernarse.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TOGAF sugiere 4 o 5 miembros permanentes y nunca más de 10. Herramienta: Diseñador de ARB, que calcula el porcentaje solo.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2 · EJEMPLO GUIADO 4 · F-24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La excepción, diligenciada campo por campo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3657598" cy="42976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55064"/>
            <a:ext cx="34747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Campo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600200"/>
            <a:ext cx="7159750" cy="42976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655064"/>
            <a:ext cx="697687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Laboratorio B2B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29968"/>
            <a:ext cx="3657598" cy="4297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34747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31424B"/>
                </a:solidFill>
                <a:latin typeface="Calibri"/>
              </a:rPr>
              <a:t>Principio del que se desvía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029968"/>
            <a:ext cx="7159750" cy="4297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84832"/>
            <a:ext cx="6976872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31424B"/>
                </a:solidFill>
                <a:latin typeface="Calibri"/>
              </a:rPr>
              <a:t>P3 · Se integra por contrato, nunca por la base de datos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59736"/>
            <a:ext cx="3657598" cy="4297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34747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31424B"/>
                </a:solidFill>
                <a:latin typeface="Calibri"/>
              </a:rPr>
              <a:t>Por qué no se puede cumplir ahora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459736"/>
            <a:ext cx="7159750" cy="4297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514600"/>
            <a:ext cx="6976872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31424B"/>
                </a:solidFill>
                <a:latin typeface="Calibri"/>
              </a:rPr>
              <a:t>La interfaz formal toma 6 semanas y el cliente empieza en 3 (el hecho, no la preferencia)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889504"/>
            <a:ext cx="3657598" cy="4297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44368"/>
            <a:ext cx="34747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31424B"/>
                </a:solidFill>
                <a:latin typeface="Calibri"/>
              </a:rPr>
              <a:t>Riesgo que se acepta · quién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889504"/>
            <a:ext cx="7159750" cy="4297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944368"/>
            <a:ext cx="6976872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31424B"/>
                </a:solidFill>
                <a:latin typeface="Calibri"/>
              </a:rPr>
              <a:t>Una actualización del LIS rompe el portal · lo acepta la gerencia de laboratorio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319272"/>
            <a:ext cx="3657598" cy="4297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74136"/>
            <a:ext cx="34747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31424B"/>
                </a:solidFill>
                <a:latin typeface="Calibri"/>
              </a:rPr>
              <a:t>Plan de retorno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319272"/>
            <a:ext cx="7159750" cy="4297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374136"/>
            <a:ext cx="6976872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31424B"/>
                </a:solidFill>
                <a:latin typeface="Calibri"/>
              </a:rPr>
              <a:t>API de resultados sobre el bus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49040"/>
            <a:ext cx="3657598" cy="4297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03904"/>
            <a:ext cx="34747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31424B"/>
                </a:solidFill>
                <a:latin typeface="Calibri"/>
              </a:rPr>
              <a:t>Vencimiento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749040"/>
            <a:ext cx="7159750" cy="4297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803904"/>
            <a:ext cx="6976872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31424B"/>
                </a:solidFill>
                <a:latin typeface="Calibri"/>
              </a:rPr>
              <a:t>4 meses; renovable una sola vez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178808"/>
            <a:ext cx="3657598" cy="4297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33672"/>
            <a:ext cx="34747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31424B"/>
                </a:solidFill>
                <a:latin typeface="Calibri"/>
              </a:rPr>
              <a:t>Deuda que abre (F-18)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78808"/>
            <a:ext cx="7159750" cy="4297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4233672"/>
            <a:ext cx="6976872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31424B"/>
                </a:solidFill>
                <a:latin typeface="Calibri"/>
              </a:rPr>
              <a:t>«Acceso directo a LIS-LAB», con interés en horas de soporte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892040"/>
            <a:ext cx="10820095" cy="73152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047488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mbria"/>
              </a:rPr>
              <a:t>Una excepción sin vencimiento es una norma nueva que nadie aprobó.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El formato completo, con tipos, lista de revisión y dictámenes, está en AREM_S3_Instrumentos.pdf.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2 · EJEMPLO GUIADO 5 · F-26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Una métrica y un riesgo, construidos paso a paso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5295747" cy="420624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9164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M3 · Interfaces bajo contrato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20824"/>
            <a:ext cx="5295747" cy="259689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48840"/>
            <a:ext cx="4966563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31424B"/>
                </a:solidFill>
                <a:latin typeface="Calibri"/>
              </a:rPr>
              <a:t>Qué mide:</a:t>
            </a:r>
            <a:r>
              <a:rPr sz="1250" b="0">
                <a:solidFill>
                  <a:srgbClr val="31424B"/>
                </a:solidFill>
                <a:latin typeface="Calibri"/>
              </a:rPr>
              <a:t> si el principio P3 se está cumpliendo de verdad.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1424B"/>
                </a:solidFill>
                <a:latin typeface="Calibri"/>
              </a:rPr>
              <a:t>Fórmula:</a:t>
            </a:r>
            <a:r>
              <a:rPr sz="1250" b="0">
                <a:solidFill>
                  <a:srgbClr val="31424B"/>
                </a:solidFill>
                <a:latin typeface="Calibri"/>
              </a:rPr>
              <a:t> interfaces con contrato registrado ÷ interfaces totales × 100.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1424B"/>
                </a:solidFill>
                <a:latin typeface="Calibri"/>
              </a:rPr>
              <a:t>Fuente que ya existe:</a:t>
            </a:r>
            <a:r>
              <a:rPr sz="1250" b="0">
                <a:solidFill>
                  <a:srgbClr val="31424B"/>
                </a:solidFill>
                <a:latin typeface="Calibri"/>
              </a:rPr>
              <a:t> el inventario (41 registradas, 10 estimadas) y la consola del bus (6).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1424B"/>
                </a:solidFill>
                <a:latin typeface="Calibri"/>
              </a:rPr>
              <a:t>Línea base:</a:t>
            </a:r>
            <a:r>
              <a:rPr sz="1250" b="0">
                <a:solidFill>
                  <a:srgbClr val="31424B"/>
                </a:solidFill>
                <a:latin typeface="Calibri"/>
              </a:rPr>
              <a:t> 6 ÷ 51 = 11,8 %. </a:t>
            </a:r>
            <a:r>
              <a:rPr sz="1250" b="1">
                <a:solidFill>
                  <a:srgbClr val="31424B"/>
                </a:solidFill>
                <a:latin typeface="Calibri"/>
              </a:rPr>
              <a:t>Umbral:</a:t>
            </a:r>
            <a:r>
              <a:rPr sz="1250" b="0">
                <a:solidFill>
                  <a:srgbClr val="31424B"/>
                </a:solidFill>
                <a:latin typeface="Calibri"/>
              </a:rPr>
              <a:t> crece menos de 3 puntos en un trimestre.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600200"/>
            <a:ext cx="5295747" cy="42062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4739" y="169164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RA-1 · El gobierno se vuelve trámite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020824"/>
            <a:ext cx="5295747" cy="259689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4739" y="2148840"/>
            <a:ext cx="4966563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31424B"/>
                </a:solidFill>
                <a:latin typeface="Calibri"/>
              </a:rPr>
              <a:t>Causa:</a:t>
            </a:r>
            <a:r>
              <a:rPr sz="1250" b="0">
                <a:solidFill>
                  <a:srgbClr val="31424B"/>
                </a:solidFill>
                <a:latin typeface="Calibri"/>
              </a:rPr>
              <a:t> si el ARB tarda más que el plazo del negocio, los equipos repiten lo del laboratorio.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1424B"/>
                </a:solidFill>
                <a:latin typeface="Calibri"/>
              </a:rPr>
              <a:t>Control concreto:</a:t>
            </a:r>
            <a:r>
              <a:rPr sz="1250" b="0">
                <a:solidFill>
                  <a:srgbClr val="31424B"/>
                </a:solidFill>
                <a:latin typeface="Calibri"/>
              </a:rPr>
              <a:t> vía rápida con dictamen en 72 horas.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1424B"/>
                </a:solidFill>
                <a:latin typeface="Calibri"/>
              </a:rPr>
              <a:t>Control concreto:</a:t>
            </a:r>
            <a:r>
              <a:rPr sz="1250" b="0">
                <a:solidFill>
                  <a:srgbClr val="31424B"/>
                </a:solidFill>
                <a:latin typeface="Calibri"/>
              </a:rPr>
              <a:t> patrones preaprobados; quien los usa pasa directo.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1424B"/>
                </a:solidFill>
                <a:latin typeface="Calibri"/>
              </a:rPr>
              <a:t>Cómo se vigila:</a:t>
            </a:r>
            <a:r>
              <a:rPr sz="1250" b="0">
                <a:solidFill>
                  <a:srgbClr val="31424B"/>
                </a:solidFill>
                <a:latin typeface="Calibri"/>
              </a:rPr>
              <a:t> M5, el tiempo de dictamen del propio ARB (p90 ≤ 10 días).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92040"/>
            <a:ext cx="10820095" cy="77724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047488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mbria"/>
              </a:rPr>
              <a:t>Sin fórmula no se calcula; sin umbral no avisa. «Sensibilizar a los equipos» no es un control: un control es algo que alguien puede verificar.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La 3.2 pide cinco métricas y tres riesgos. Herramienta: Métricas y riesgos, que no guarda una métrica sin fórmula ni umbral.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2 · EJEMPLO GUIADO 6 · F-25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APO03 y el nivel de capacidad, sin inflarlo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828798" cy="38404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645920"/>
            <a:ext cx="4571998" cy="38404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700784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Qué parte del sistema lo opera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1645920"/>
            <a:ext cx="1737358" cy="38404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70078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60" y="1645920"/>
            <a:ext cx="2679190" cy="38404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00784"/>
            <a:ext cx="24963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Por qué ese nivel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029968"/>
            <a:ext cx="1828798" cy="91439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84832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APO03 · gestión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2029968"/>
            <a:ext cx="4571998" cy="91439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2084832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El ARB entero: principios (03.01), repositorio (03.02), revisión R0 (03.03), R1 y R2 (03.04)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029968"/>
            <a:ext cx="1737358" cy="91439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084832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1 → 2 en 12 meses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2029968"/>
            <a:ext cx="2679190" cy="91439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2084832"/>
            <a:ext cx="249631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Hoy hay actividades sueltas sin proceso; el nivel 3 exige medición estable que no existe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944368"/>
            <a:ext cx="1828798" cy="77723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99232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APO12 · gestión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2944368"/>
            <a:ext cx="4571998" cy="77723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2999232"/>
            <a:ext cx="4389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Cada excepción aceptada y los tres riesgos entran al registro de riesgos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2944368"/>
            <a:ext cx="1737358" cy="77723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999232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1 → 2 en 12 meses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2944368"/>
            <a:ext cx="2679190" cy="77723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2999232"/>
            <a:ext cx="249631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Hoy el riesgo se gestiona por proyecto, sin registro común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721608"/>
            <a:ext cx="1828798" cy="77723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776472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EDM01 · gobierno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3721608"/>
            <a:ext cx="4571998" cy="77723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6040" y="3776472"/>
            <a:ext cx="4389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El acta del consejo directivo que crea el ARB y le da autoridad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3721608"/>
            <a:ext cx="1737358" cy="77723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3776472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1 → 2 en 6 meses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3721608"/>
            <a:ext cx="2679190" cy="77723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3776472"/>
            <a:ext cx="249631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Da el mandato, pero no cuenta como objetivo de gestión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800600"/>
            <a:ext cx="10820095" cy="8229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956048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mbria"/>
              </a:rPr>
              <a:t>Nivel 2 significa que el proceso logra su propósito con un conjunto básico y completo de actividades. Proponer nivel 4 en el primer año es una señal de que no se entendió la escala.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Niveles de capacidad de COBIT 2019: 0 a 5. Herramienta: Mapa COBIT · TOGAF · ITIL.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3 · TALLER EN SALAS · 27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Un episodio de su organización, tres formatos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66928" cy="932688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1965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2728" y="1554480"/>
            <a:ext cx="10253167" cy="932688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664208"/>
            <a:ext cx="981425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2B33"/>
                </a:solidFill>
                <a:latin typeface="Calibri"/>
              </a:rPr>
              <a:t>Minutos 0 a 5 · Elijan el episodio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Una decisión real de su organización que hoy nadie gobernó: una compra que duplicó algo, una integración de apuro, un sistema hecho por fuera de TI. Si usan Red Salud Andina, tomen uno distinto a los tres de hoy.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96896"/>
            <a:ext cx="566928" cy="932688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6207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2596896"/>
            <a:ext cx="10253167" cy="932688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706624"/>
            <a:ext cx="981425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2B33"/>
                </a:solidFill>
                <a:latin typeface="Calibri"/>
              </a:rPr>
              <a:t>Minutos 5 a 12 · El principio (F-23)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La regla escrita antes que lo habría evitado: enunciado, motivación con el hecho e implicaciones. Si les sobra tiempo, escriban un segundo principio.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639312"/>
            <a:ext cx="566928" cy="932688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0448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639312"/>
            <a:ext cx="10253167" cy="932688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40"/>
            <a:ext cx="981425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2B33"/>
                </a:solidFill>
                <a:latin typeface="Calibri"/>
              </a:rPr>
              <a:t>Minutos 12 a 20 · La pregunta y el dictamen (F-24)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La pregunta de la lista de revisión que lo detecta; el tipo de iniciativa; el momento en que se habría visto, y el dictamen. Si es excepción: vencimiento, dueño y plan de retorno.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681728"/>
            <a:ext cx="566928" cy="932688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94690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2728" y="4681728"/>
            <a:ext cx="10253167" cy="932688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91456"/>
            <a:ext cx="981425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2B33"/>
                </a:solidFill>
                <a:latin typeface="Calibri"/>
              </a:rPr>
              <a:t>Minutos 20 a 27 · Las sillas (F-22)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Quién tenía que estar en esa decisión, con el cargo real de su organización, y cuántas horas al mes cuesta el ARB completo.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Herramientas abiertas al lado: Diseñador de ARB y Compliance Review, con «Empezar con el caso del grupo». Enunciado: https://cesaravegaf312.github.io/AREM-S3_Gobierno_y_Control/documentos/1_actividad_3_2/AREM_S3_Enunciado_Actividad_3_2.pdf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PARA TENER AL LADO DURANTE EL 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Cómo se llena mal y cómo bien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1737358" cy="65836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55064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Campo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600200"/>
            <a:ext cx="2834638" cy="65836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655064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Así no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1600200"/>
            <a:ext cx="3840478" cy="65836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655064"/>
            <a:ext cx="3657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Así sí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600200"/>
            <a:ext cx="2404870" cy="65836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655064"/>
            <a:ext cx="22219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Por 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58568"/>
            <a:ext cx="173735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13432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Principio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258568"/>
            <a:ext cx="283463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313432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«La información es un activo»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2258568"/>
            <a:ext cx="384047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31343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«Se integra por contrato, nunca por la base de datos»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58568"/>
            <a:ext cx="2404870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313432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Si nadie estaría en desacuerdo, no restringe nada.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916936"/>
            <a:ext cx="1737358" cy="6583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71800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Motivación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2916936"/>
            <a:ext cx="2834638" cy="6583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297180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«Es una buena práctica»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916936"/>
            <a:ext cx="3840478" cy="6583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97180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Tres días sin facturar tras un cambio de esquema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2916936"/>
            <a:ext cx="2404870" cy="6583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971800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La motivación es un hecho del caso.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575304"/>
            <a:ext cx="173735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630168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Pregunta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3575304"/>
            <a:ext cx="283463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363016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«¿Cumple la arquitectura?»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3575304"/>
            <a:ext cx="384047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630168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«¿Alguna integración lee la base de otro sistema?» → P3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575304"/>
            <a:ext cx="2404870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3630168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Cada pregunta, atada a un principio.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233672"/>
            <a:ext cx="1737358" cy="6583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288536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Excepción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3160" y="4233672"/>
            <a:ext cx="2834638" cy="6583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4288536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«Se aprueba temporalmente»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4233672"/>
            <a:ext cx="3840478" cy="6583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9240" y="4288536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4 meses, dueño, plan de retorno, partida de deuda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4233672"/>
            <a:ext cx="2404870" cy="6583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4288536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Sin fecha, la excepción es permanente.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892040"/>
            <a:ext cx="173735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946904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Silla del ARB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23160" y="4892040"/>
            <a:ext cx="283463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14600" y="4946904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«Arquitecto de datos» (no existe)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7800" y="4892040"/>
            <a:ext cx="384047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49240" y="4946904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Delegado de la Dirección médica · 6 h/mes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4892040"/>
            <a:ext cx="2404870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4946904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Si la silla no tiene cargo real, el ARB no existe.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Prohibido un ARB de diez personas en una organización con un arquitecto.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PUESTA EN COMÚN · 12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Dos grupos muestran; dos correcciones para todos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295747" cy="42062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3736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El principio que nadie discute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66544"/>
            <a:ext cx="5295747" cy="195681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94560"/>
            <a:ext cx="4966563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«La seguridad es lo primero», «la información es un activo».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Síntoma para reconocerlo solos: no pueden nombrar un proyecto que ese principio habría detenido.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645920"/>
            <a:ext cx="5295747" cy="420624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4739" y="173736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La excepción eterna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066544"/>
            <a:ext cx="5295747" cy="195681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4739" y="2194560"/>
            <a:ext cx="4966563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«Se aprueba mientras se implementa la solución definitiva.»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Síntoma: no tiene fecha. En un año, la excepción es la arquitectura.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297680"/>
            <a:ext cx="10820095" cy="73152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453128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mbria"/>
              </a:rPr>
              <a:t>Dos grupos cuentan su episodio en dos minutos: qué pasó, qué principio escribieron y qué dictamen habría recibido.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Si un grupo no encontró ningún episodio, es la señal de que todavía no miró el gobierno real de su organización.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CIERRE · QUÉ SIGUE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Lo que se llevan hoy y lo que falta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5295747" cy="420624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9164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Lo que ya tienen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20824"/>
            <a:ext cx="5295747" cy="259689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48840"/>
            <a:ext cx="4966563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Un principio con su motivación (F-23) · una pregunta de revisión con su dictamen (F-24) · las sillas del ARB con sus horas (F-22).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Es el borrador de las secciones 2, 3 y 4: </a:t>
            </a:r>
            <a:r>
              <a:rPr sz="1300" b="1">
                <a:solidFill>
                  <a:srgbClr val="31424B"/>
                </a:solidFill>
                <a:latin typeface="Calibri"/>
              </a:rPr>
              <a:t>3,0 de los 5,0 puntos</a:t>
            </a:r>
            <a:r>
              <a:rPr sz="1300" b="0">
                <a:solidFill>
                  <a:srgbClr val="31424B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600200"/>
            <a:ext cx="5295747" cy="42062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4739" y="169164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Lo que falta, fuera de clase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020824"/>
            <a:ext cx="5295747" cy="259689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4739" y="2148840"/>
            <a:ext cx="4966563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Completar los ocho principios y el proceso · </a:t>
            </a:r>
            <a:r>
              <a:rPr sz="1300" b="1">
                <a:solidFill>
                  <a:srgbClr val="31424B"/>
                </a:solidFill>
                <a:latin typeface="Calibri"/>
              </a:rPr>
              <a:t>F-25</a:t>
            </a:r>
            <a:r>
              <a:rPr sz="1300" b="0">
                <a:solidFill>
                  <a:srgbClr val="31424B"/>
                </a:solidFill>
                <a:latin typeface="Calibri"/>
              </a:rPr>
              <a:t>: APO03 y otro objetivo de gestión · </a:t>
            </a:r>
            <a:r>
              <a:rPr sz="1300" b="1">
                <a:solidFill>
                  <a:srgbClr val="31424B"/>
                </a:solidFill>
                <a:latin typeface="Calibri"/>
              </a:rPr>
              <a:t>F-26</a:t>
            </a:r>
            <a:r>
              <a:rPr sz="1300" b="0">
                <a:solidFill>
                  <a:srgbClr val="31424B"/>
                </a:solidFill>
                <a:latin typeface="Calibri"/>
              </a:rPr>
              <a:t>: cinco métricas y tres riesgos.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Antes de subir: </a:t>
            </a:r>
            <a:r>
              <a:rPr sz="1300" b="1">
                <a:solidFill>
                  <a:srgbClr val="31424B"/>
                </a:solidFill>
                <a:latin typeface="Calibri"/>
              </a:rPr>
              <a:t>F-28</a:t>
            </a:r>
            <a:r>
              <a:rPr sz="1300" b="0">
                <a:solidFill>
                  <a:srgbClr val="31424B"/>
                </a:solidFill>
                <a:latin typeface="Calibri"/>
              </a:rPr>
              <a:t>, la lista de verificación. Y la </a:t>
            </a:r>
            <a:r>
              <a:rPr sz="1300" b="1">
                <a:solidFill>
                  <a:srgbClr val="31424B"/>
                </a:solidFill>
                <a:latin typeface="Calibri"/>
              </a:rPr>
              <a:t>3.1</a:t>
            </a:r>
            <a:r>
              <a:rPr sz="1300" b="0">
                <a:solidFill>
                  <a:srgbClr val="31424B"/>
                </a:solidFill>
                <a:latin typeface="Calibri"/>
              </a:rPr>
              <a:t>, individual, con el F-21.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46320"/>
            <a:ext cx="10820095" cy="77724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001768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mbria"/>
              </a:rPr>
              <a:t>Empiecen por el mapa de la Actividad 3.2 y el documento de ejemplo: https://cesaravegaf312.github.io/AREM-S3_Gobierno_y_Control/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De los ejemplos se copia la estructura, nunca el contenido. Su documento es sobre su organización.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Fuentes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31424B"/>
                </a:solidFill>
                <a:latin typeface="Calibri"/>
              </a:rPr>
              <a:t>Axelos. (2019). ITIL® foundation: ITIL 4 edition. TSO.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1424B"/>
                </a:solidFill>
                <a:latin typeface="Calibri"/>
              </a:rPr>
              <a:t>Colombia, Congreso de la República. (2012). Ley 1581 de 2012, por la cual se dictan disposiciones generales para la protección de datos personales.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1424B"/>
                </a:solidFill>
                <a:latin typeface="Calibri"/>
              </a:rPr>
              <a:t>Colombia, Congreso de la República. (2020). Ley 2015 de 2020, por medio de la cual se crea la historia clínica electrónica interoperable.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1424B"/>
                </a:solidFill>
                <a:latin typeface="Calibri"/>
              </a:rPr>
              <a:t>Hohpe, G. (2020). The software architect elevator: Redefining the architect's role in the digital enterprise. O'Reilly Media.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1424B"/>
                </a:solidFill>
                <a:latin typeface="Calibri"/>
              </a:rPr>
              <a:t>ISACA. (2018). COBIT® 2019 framework: Governance and management objectives. ISACA.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1424B"/>
                </a:solidFill>
                <a:latin typeface="Calibri"/>
              </a:rPr>
              <a:t>Ministerio de Salud y Protección Social. (2021). Resolución 866 de 2021.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1424B"/>
                </a:solidFill>
                <a:latin typeface="Calibri"/>
              </a:rPr>
              <a:t>Ministerio de Salud y Protección Social. (2023). Resolución 2275 de 2023.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1424B"/>
                </a:solidFill>
                <a:latin typeface="Calibri"/>
              </a:rPr>
              <a:t>Ministerio de Salud y Protección Social. (2025). Resolución 1888 de 2025, por medio de la cual se adopta el Resumen Digital de Atención en Salud (RDA).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1424B"/>
                </a:solidFill>
                <a:latin typeface="Calibri"/>
              </a:rPr>
              <a:t>Ministerio de Tecnologías de la Información y las Comunicaciones. (2022). Decreto 767 de 2022.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1424B"/>
                </a:solidFill>
                <a:latin typeface="Calibri"/>
              </a:rPr>
              <a:t>Ministerio de Tecnologías de la Información y las Comunicaciones. (2023). Resolución 1978 de 2023, por la cual se adopta el Marco de Referencia de Arquitectura Empresarial.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1424B"/>
                </a:solidFill>
                <a:latin typeface="Calibri"/>
              </a:rPr>
              <a:t>The Open Group. (2022). The TOGAF® standard, 10th edition: Enterprise architecture capability and governance. Van Haren Publishing.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1424B"/>
                </a:solidFill>
                <a:latin typeface="Calibri"/>
              </a:rPr>
              <a:t>Vega Fernández, C. A. (2026). Red Salud Andina: dossier del caso de respaldo [Material docente]. Universidad de La Sabana.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