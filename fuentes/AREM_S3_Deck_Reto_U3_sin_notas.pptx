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2622C"/>
                </a:solidFill>
                <a:latin typeface="Calibri"/>
              </a:rPr>
              <a:t>MAESTRÍA · ESPACIO ACADÉMICO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37360"/>
            <a:ext cx="78638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Arquitectura Empresarial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9748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0">
                <a:solidFill>
                  <a:srgbClr val="CFDAE0"/>
                </a:solidFill>
                <a:latin typeface="Cambria"/>
              </a:rPr>
              <a:t>Sesión 3 — Unidad 3 · Presentación del Reto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33756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8FA5AF"/>
                </a:solidFill>
                <a:latin typeface="Calibri"/>
              </a:rPr>
              <a:t>Gobierno arquitectónico: quién decide, con qué reglas y cuánto cuesta decidir.</a:t>
            </a:r>
          </a:p>
        </p:txBody>
      </p:sp>
      <p:sp>
        <p:nvSpPr>
          <p:cNvPr id="7" name="Rectangle 6"/>
          <p:cNvSpPr/>
          <p:nvPr/>
        </p:nvSpPr>
        <p:spPr>
          <a:xfrm>
            <a:off x="8869680" y="1874519"/>
            <a:ext cx="2651760" cy="301752"/>
          </a:xfrm>
          <a:prstGeom prst="rect">
            <a:avLst/>
          </a:prstGeom>
          <a:solidFill>
            <a:srgbClr val="C2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869680" y="2331720"/>
            <a:ext cx="2651760" cy="301752"/>
          </a:xfrm>
          <a:prstGeom prst="rect">
            <a:avLst/>
          </a:prstGeom>
          <a:solidFill>
            <a:srgbClr val="467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69680" y="2788920"/>
            <a:ext cx="2651760" cy="301752"/>
          </a:xfrm>
          <a:prstGeom prst="rect">
            <a:avLst/>
          </a:prstGeom>
          <a:solidFill>
            <a:srgbClr val="9E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869680" y="3246120"/>
            <a:ext cx="2651760" cy="301752"/>
          </a:xfrm>
          <a:prstGeom prst="rect">
            <a:avLst/>
          </a:prstGeom>
          <a:solidFill>
            <a:srgbClr val="3453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394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César Augusto Vega Fernández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68756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FA5AF"/>
                </a:solidFill>
                <a:latin typeface="Calibri"/>
              </a:rPr>
              <a:t>Encuentro sincrónico · 2 horas · TOGAF® Standard, 10th Edition · COBIT® 2019 · ITIL®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92608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2622C"/>
                </a:solidFill>
                <a:latin typeface="Calibri"/>
              </a:rPr>
              <a:t>EL RETO DE LA UNIDAD 3 · ACTIVIDADES EN LA PLATAFORMA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3035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C2B33"/>
                </a:solidFill>
                <a:latin typeface="Cambria"/>
              </a:rPr>
              <a:t>Tres decisiones razonables, una arquitectura que nadie eligió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3931920" cy="3017520"/>
          </a:xfrm>
          <a:prstGeom prst="rect">
            <a:avLst/>
          </a:prstGeom>
          <a:solidFill>
            <a:srgbClr val="F6E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338328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31424B"/>
                </a:solidFill>
                <a:latin typeface="Cambria"/>
              </a:rPr>
              <a:t>«Aquí nunca se decidió nada de arquitectura; se compró.»</a:t>
            </a:r>
          </a:p>
          <a:p/>
          <a:p>
            <a:r>
              <a:rPr sz="1500" b="0">
                <a:solidFill>
                  <a:srgbClr val="31424B"/>
                </a:solidFill>
                <a:latin typeface="Cambria"/>
              </a:rPr>
              <a:t>Hay comité de TI, pero decide presupuesto, no diseño. No hay principios escritos ni dónde escalar un desacuerdo.</a:t>
            </a:r>
          </a:p>
          <a:p/>
          <a:p>
            <a:r>
              <a:rPr sz="1400" b="0">
                <a:solidFill>
                  <a:srgbClr val="6B7A82"/>
                </a:solidFill>
                <a:latin typeface="Cambria"/>
              </a:rPr>
              <a:t>Gerencia de tecnología (CIO) · Red Salud Andina</a:t>
            </a:r>
          </a:p>
        </p:txBody>
      </p:sp>
      <p:sp>
        <p:nvSpPr>
          <p:cNvPr id="6" name="Rectangle 5"/>
          <p:cNvSpPr/>
          <p:nvPr/>
        </p:nvSpPr>
        <p:spPr>
          <a:xfrm>
            <a:off x="4846320" y="1645920"/>
            <a:ext cx="64008" cy="1051560"/>
          </a:xfrm>
          <a:prstGeom prst="rect">
            <a:avLst/>
          </a:prstGeom>
          <a:solidFill>
            <a:srgbClr val="3453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10328" y="1645920"/>
            <a:ext cx="6595567" cy="1051560"/>
          </a:xfrm>
          <a:prstGeom prst="rect">
            <a:avLst/>
          </a:prstGeom>
          <a:solidFill>
            <a:srgbClr val="EF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0" y="1755648"/>
            <a:ext cx="620237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34535D"/>
                </a:solidFill>
                <a:latin typeface="Cambria"/>
              </a:rPr>
              <a:t>Actividad 3.1 · Presentación del reto</a:t>
            </a:r>
          </a:p>
          <a:p>
            <a:r>
              <a:rPr sz="1200" b="0">
                <a:solidFill>
                  <a:srgbClr val="31424B"/>
                </a:solidFill>
                <a:latin typeface="Calibri"/>
              </a:rPr>
              <a:t>Individual · formativa, sin nota. Dos comparativos de 1 página: COBIT 2019 frente a TOGAF, y la normativa colombiana y del MinTIC.</a:t>
            </a:r>
          </a:p>
        </p:txBody>
      </p:sp>
      <p:sp>
        <p:nvSpPr>
          <p:cNvPr id="9" name="Rectangle 8"/>
          <p:cNvSpPr/>
          <p:nvPr/>
        </p:nvSpPr>
        <p:spPr>
          <a:xfrm>
            <a:off x="4846320" y="2834639"/>
            <a:ext cx="64008" cy="1828800"/>
          </a:xfrm>
          <a:prstGeom prst="rect">
            <a:avLst/>
          </a:prstGeom>
          <a:solidFill>
            <a:srgbClr val="C2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910328" y="2834639"/>
            <a:ext cx="6595567" cy="1828800"/>
          </a:xfrm>
          <a:prstGeom prst="rect">
            <a:avLst/>
          </a:prstGeom>
          <a:solidFill>
            <a:srgbClr val="EF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0" y="2944368"/>
            <a:ext cx="6202375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C2622C"/>
                </a:solidFill>
                <a:latin typeface="Cambria"/>
              </a:rPr>
              <a:t>Actividad 3.2 · Propuesta de sistema de gobierno arquitectónico</a:t>
            </a:r>
          </a:p>
          <a:p>
            <a:r>
              <a:rPr sz="1200" b="0">
                <a:solidFill>
                  <a:srgbClr val="31424B"/>
                </a:solidFill>
                <a:latin typeface="Calibri"/>
              </a:rPr>
              <a:t>Grupal, de 3 a 4 · 20 % · 20 horas</a:t>
            </a:r>
          </a:p>
          <a:p>
            <a:r>
              <a:rPr sz="1200" b="0">
                <a:solidFill>
                  <a:srgbClr val="31424B"/>
                </a:solidFill>
                <a:latin typeface="Calibri"/>
              </a:rPr>
              <a:t>ARB con al menos 4 roles, frecuencia y proceso de decisión · 8 principios o más</a:t>
            </a:r>
          </a:p>
          <a:p>
            <a:r>
              <a:rPr sz="1200" b="0">
                <a:solidFill>
                  <a:srgbClr val="31424B"/>
                </a:solidFill>
                <a:latin typeface="Calibri"/>
              </a:rPr>
              <a:t>Revisión de cumplimiento con excepciones · 5 métricas y 3 riesgos</a:t>
            </a:r>
          </a:p>
          <a:p>
            <a:r>
              <a:rPr sz="1200" b="0">
                <a:solidFill>
                  <a:srgbClr val="31424B"/>
                </a:solidFill>
                <a:latin typeface="Calibri"/>
              </a:rPr>
              <a:t>APO03 y otro objetivo de COBIT 2019 · PDF de máximo 15 páginas, en APA 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846320"/>
            <a:ext cx="10820095" cy="777240"/>
          </a:xfrm>
          <a:prstGeom prst="rect">
            <a:avLst/>
          </a:prstGeom>
          <a:solidFill>
            <a:srgbClr val="1C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5001768"/>
            <a:ext cx="1008857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Cambria"/>
              </a:rPr>
              <a:t>Rúbrica de la 3.2 (sobre 5,0): ARB y principios 1,5 · proceso de cumplimiento 1,5 · métricas y riesgos 1,25 · COBIT e ITIL 0,75.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053328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A82"/>
                </a:solidFill>
                <a:latin typeface="Calibri"/>
              </a:rPr>
              <a:t>Los </a:t>
            </a:r>
            <a:r>
              <a:rPr sz="1000" b="1">
                <a:solidFill>
                  <a:srgbClr val="6B7A82"/>
                </a:solidFill>
                <a:latin typeface="Calibri"/>
              </a:rPr>
              <a:t>F-nn</a:t>
            </a:r>
            <a:r>
              <a:rPr sz="1000" b="0">
                <a:solidFill>
                  <a:srgbClr val="6B7A82"/>
                </a:solidFill>
                <a:latin typeface="Calibri"/>
              </a:rPr>
              <a:t> son los formatos del curso —las plantillas que preparan cada sección—, con numeración continua entre sesiones: F-05 a F-12 fueron de la Unidad 1, F-13 a F-20 de la Unidad 2 y F-21 a F-28 son los de esta. No se suben a la plataforma. · Fuente: las actividades 3.1 y 3.2, con su enunciado y su rúbrica. Caso: Red Salud Andina, dossier §4 y §10.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92608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2622C"/>
                </a:solidFill>
                <a:latin typeface="Calibri"/>
              </a:rPr>
              <a:t>CÓMO VAMOS A USAR LAS DOS HORAS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3035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C2B33"/>
                </a:solidFill>
                <a:latin typeface="Cambria"/>
              </a:rPr>
              <a:t>Primero qué significa, después ejemplos, después ustedes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737360"/>
            <a:ext cx="3454298" cy="73152"/>
          </a:xfrm>
          <a:prstGeom prst="rect">
            <a:avLst/>
          </a:prstGeom>
          <a:solidFill>
            <a:srgbClr val="C2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0240"/>
            <a:ext cx="345429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2622C"/>
                </a:solidFill>
                <a:latin typeface="Calibri"/>
              </a:rPr>
              <a:t>PRIMERO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40280"/>
            <a:ext cx="345429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C2B33"/>
                </a:solidFill>
                <a:latin typeface="Cambria"/>
              </a:rPr>
              <a:t>Conceptos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880360"/>
            <a:ext cx="345429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31424B"/>
                </a:solidFill>
                <a:latin typeface="Calibri"/>
              </a:rPr>
              <a:t>Qué es gobernar una arquitectura, qué pasa cuando no existe y con qué mecanismos se hace.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68698" y="1737360"/>
            <a:ext cx="3454298" cy="73152"/>
          </a:xfrm>
          <a:prstGeom prst="rect">
            <a:avLst/>
          </a:prstGeom>
          <a:solidFill>
            <a:srgbClr val="467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8698" y="1920240"/>
            <a:ext cx="345429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46707E"/>
                </a:solidFill>
                <a:latin typeface="Calibri"/>
              </a:rPr>
              <a:t>DESPUÉS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8698" y="2240280"/>
            <a:ext cx="345429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C2B33"/>
                </a:solidFill>
                <a:latin typeface="Cambria"/>
              </a:rPr>
              <a:t>Ejemplos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8698" y="2880360"/>
            <a:ext cx="345429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31424B"/>
                </a:solidFill>
                <a:latin typeface="Calibri"/>
              </a:rPr>
              <a:t>Los mismos formatos que ustedes van a llenar, recorridos paso a paso con el caso.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51596" y="1737360"/>
            <a:ext cx="3454298" cy="73152"/>
          </a:xfrm>
          <a:prstGeom prst="rect">
            <a:avLst/>
          </a:prstGeom>
          <a:solidFill>
            <a:srgbClr val="9E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51596" y="1920240"/>
            <a:ext cx="345429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E5C3B"/>
                </a:solidFill>
                <a:latin typeface="Calibri"/>
              </a:rPr>
              <a:t>Y EL RESTO DE LA SESIÓN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51596" y="2240280"/>
            <a:ext cx="345429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C2B33"/>
                </a:solidFill>
                <a:latin typeface="Cambria"/>
              </a:rPr>
              <a:t>El hacer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51596" y="2880360"/>
            <a:ext cx="345429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31424B"/>
                </a:solidFill>
                <a:latin typeface="Calibri"/>
              </a:rPr>
              <a:t>El taller en salas sobre su propio caso, la puesta en común y el cierre.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480560"/>
            <a:ext cx="10820095" cy="868680"/>
          </a:xfrm>
          <a:prstGeom prst="rect">
            <a:avLst/>
          </a:prstGeom>
          <a:solidFill>
            <a:srgbClr val="1C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636008"/>
            <a:ext cx="10088575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Cambria"/>
              </a:rPr>
              <a:t>El bloque que no se recorta es el tercero. Si los conceptos se alargan, se acortan los ejemplos: están todos en el repositorio para verlos después.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053328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A82"/>
                </a:solidFill>
                <a:latin typeface="Calibri"/>
              </a:rPr>
              <a:t>Una sola actividad en salas: el resto de la sesión es para llegar a ella sabiendo qué hacer.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92608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2622C"/>
                </a:solidFill>
                <a:latin typeface="Calibri"/>
              </a:rPr>
              <a:t>BLOQUE 1 · QUÉ SIGNIFICA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3035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C2B33"/>
                </a:solidFill>
                <a:latin typeface="Cambria"/>
              </a:rPr>
              <a:t>Gobernar no es diseñar: es decidir qué diseño es aceptable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3454298" cy="420624"/>
          </a:xfrm>
          <a:prstGeom prst="rect">
            <a:avLst/>
          </a:prstGeom>
          <a:solidFill>
            <a:srgbClr val="3453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1737360"/>
            <a:ext cx="312511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Cambria"/>
              </a:rPr>
              <a:t>Gobierno de inversión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066544"/>
            <a:ext cx="3454298" cy="2505456"/>
          </a:xfrm>
          <a:prstGeom prst="rect">
            <a:avLst/>
          </a:prstGeom>
          <a:solidFill>
            <a:srgbClr val="EF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194560"/>
            <a:ext cx="3125114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50" b="0">
                <a:solidFill>
                  <a:srgbClr val="31424B"/>
                </a:solidFill>
                <a:latin typeface="Calibri"/>
              </a:rPr>
              <a:t>Decide </a:t>
            </a:r>
            <a:r>
              <a:rPr sz="1350" b="1">
                <a:solidFill>
                  <a:srgbClr val="31424B"/>
                </a:solidFill>
                <a:latin typeface="Calibri"/>
              </a:rPr>
              <a:t>qué proyectos se financian</a:t>
            </a:r>
            <a:r>
              <a:rPr sz="1350" b="0">
                <a:solidFill>
                  <a:srgbClr val="31424B"/>
                </a:solidFill>
                <a:latin typeface="Calibri"/>
              </a:rPr>
              <a:t> y en qué orden.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31424B"/>
                </a:solidFill>
                <a:latin typeface="Calibri"/>
              </a:rPr>
              <a:t>Es lo que hace hoy el comité de TI del caso: mira el caso de negocio, no el diseño.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68698" y="1645920"/>
            <a:ext cx="3454298" cy="420624"/>
          </a:xfrm>
          <a:prstGeom prst="rect">
            <a:avLst/>
          </a:prstGeom>
          <a:solidFill>
            <a:srgbClr val="C2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33290" y="1737360"/>
            <a:ext cx="312511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Cambria"/>
              </a:rPr>
              <a:t>Gobierno de arquitectura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2066544"/>
            <a:ext cx="3454298" cy="2505456"/>
          </a:xfrm>
          <a:prstGeom prst="rect">
            <a:avLst/>
          </a:prstGeom>
          <a:solidFill>
            <a:srgbClr val="EF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33290" y="2194560"/>
            <a:ext cx="3125114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50" b="0">
                <a:solidFill>
                  <a:srgbClr val="31424B"/>
                </a:solidFill>
                <a:latin typeface="Calibri"/>
              </a:rPr>
              <a:t>Decide </a:t>
            </a:r>
            <a:r>
              <a:rPr sz="1350" b="1">
                <a:solidFill>
                  <a:srgbClr val="31424B"/>
                </a:solidFill>
                <a:latin typeface="Calibri"/>
              </a:rPr>
              <a:t>si una solución es conforme</a:t>
            </a:r>
            <a:r>
              <a:rPr sz="1350" b="0">
                <a:solidFill>
                  <a:srgbClr val="31424B"/>
                </a:solidFill>
                <a:latin typeface="Calibri"/>
              </a:rPr>
              <a:t> con los principios y la arquitectura objetivo.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31424B"/>
                </a:solidFill>
                <a:latin typeface="Calibri"/>
              </a:rPr>
              <a:t>Otorga o niega excepciones, y las registra con vencimiento.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51596" y="1645920"/>
            <a:ext cx="3454298" cy="420624"/>
          </a:xfrm>
          <a:prstGeom prst="rect">
            <a:avLst/>
          </a:prstGeom>
          <a:solidFill>
            <a:srgbClr val="9E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16188" y="1737360"/>
            <a:ext cx="312511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Cambria"/>
              </a:rPr>
              <a:t>Gobierno y gestión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51596" y="2066544"/>
            <a:ext cx="3454298" cy="2505456"/>
          </a:xfrm>
          <a:prstGeom prst="rect">
            <a:avLst/>
          </a:prstGeom>
          <a:solidFill>
            <a:srgbClr val="EF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6188" y="2194560"/>
            <a:ext cx="3125114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50" b="0">
                <a:solidFill>
                  <a:srgbClr val="31424B"/>
                </a:solidFill>
                <a:latin typeface="Calibri"/>
              </a:rPr>
              <a:t>El gobierno </a:t>
            </a:r>
            <a:r>
              <a:rPr sz="1350" b="1">
                <a:solidFill>
                  <a:srgbClr val="31424B"/>
                </a:solidFill>
                <a:latin typeface="Calibri"/>
              </a:rPr>
              <a:t>evalúa, dirige y supervisa</a:t>
            </a:r>
            <a:r>
              <a:rPr sz="1350" b="0">
                <a:solidFill>
                  <a:srgbClr val="31424B"/>
                </a:solidFill>
                <a:latin typeface="Calibri"/>
              </a:rPr>
              <a:t>; la gestión planea, construye y ejecuta (ISACA, 2018).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31424B"/>
                </a:solidFill>
                <a:latin typeface="Calibri"/>
              </a:rPr>
              <a:t>El ARB no diseña la solución del proyecto: dice si es aceptable.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800600"/>
            <a:ext cx="10820095" cy="822960"/>
          </a:xfrm>
          <a:prstGeom prst="rect">
            <a:avLst/>
          </a:prstGeom>
          <a:solidFill>
            <a:srgbClr val="1C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956048"/>
            <a:ext cx="10088575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0">
                <a:solidFill>
                  <a:srgbClr val="FFFFFF"/>
                </a:solidFill>
                <a:latin typeface="Cambria"/>
              </a:rPr>
              <a:t>El valor del gobierno no se ve en lo que pasa cuando funciona, sino en los problemas que no ocurren. Por eso cuesta tanto defenderlo con un caso de negocio.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053328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A82"/>
                </a:solidFill>
                <a:latin typeface="Calibri"/>
              </a:rPr>
              <a:t>TOGAF 10, Enterprise Architecture Capability and Governance. COBIT 2019 separa gobierno (EDM) de gestión (APO, BAI, DSS, MEA).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92608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2622C"/>
                </a:solidFill>
                <a:latin typeface="Calibri"/>
              </a:rPr>
              <a:t>BLOQUE 1 · QUÉ PASA CUANDO NO EXISTE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3035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C2B33"/>
                </a:solidFill>
                <a:latin typeface="Cambria"/>
              </a:rPr>
              <a:t>Tres equipos, tres decisiones razonables, ninguna gobernada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3454298" cy="420624"/>
          </a:xfrm>
          <a:prstGeom prst="rect">
            <a:avLst/>
          </a:prstGeom>
          <a:solidFill>
            <a:srgbClr val="467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1737360"/>
            <a:ext cx="312511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Cambria"/>
              </a:rPr>
              <a:t>Telemedicina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066544"/>
            <a:ext cx="3454298" cy="2505456"/>
          </a:xfrm>
          <a:prstGeom prst="rect">
            <a:avLst/>
          </a:prstGeom>
          <a:solidFill>
            <a:srgbClr val="EF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194560"/>
            <a:ext cx="3125114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1424B"/>
                </a:solidFill>
                <a:latin typeface="Calibri"/>
              </a:rPr>
              <a:t>La plataforma de teleconsulta trae su propio módulo de agenda, que duplica la capacidad que presta AGENDA-WEB.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B7A82"/>
                </a:solidFill>
                <a:latin typeface="Calibri"/>
              </a:rPr>
              <a:t>Hoy: Se firmó porque «venía incluido». Hoy hay dos agendas que no se hablan.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68698" y="1645920"/>
            <a:ext cx="3454298" cy="420624"/>
          </a:xfrm>
          <a:prstGeom prst="rect">
            <a:avLst/>
          </a:prstGeom>
          <a:solidFill>
            <a:srgbClr val="C2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33290" y="1737360"/>
            <a:ext cx="312511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Cambria"/>
              </a:rPr>
              <a:t>Laboratorio B2B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2066544"/>
            <a:ext cx="3454298" cy="2505456"/>
          </a:xfrm>
          <a:prstGeom prst="rect">
            <a:avLst/>
          </a:prstGeom>
          <a:solidFill>
            <a:srgbClr val="EF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33290" y="2194560"/>
            <a:ext cx="3125114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1424B"/>
                </a:solidFill>
                <a:latin typeface="Calibri"/>
              </a:rPr>
              <a:t>PORTAL-B2B consulta directamente la base de datos de LIS-LAB porque la interfaz formal tomaba seis semanas y el cliente empezaba en tres.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B7A82"/>
                </a:solidFill>
                <a:latin typeface="Calibri"/>
              </a:rPr>
              <a:t>Hoy: Nadie lo supo hasta 2024. La actualización mayor del LIS está aplazada porque nadie sabe qué se rompe.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51596" y="1645920"/>
            <a:ext cx="3454298" cy="420624"/>
          </a:xfrm>
          <a:prstGeom prst="rect">
            <a:avLst/>
          </a:prstGeom>
          <a:solidFill>
            <a:srgbClr val="9E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16188" y="1737360"/>
            <a:ext cx="312511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Cambria"/>
              </a:rPr>
              <a:t>Portal del paciente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51596" y="2066544"/>
            <a:ext cx="3454298" cy="2505456"/>
          </a:xfrm>
          <a:prstGeom prst="rect">
            <a:avLst/>
          </a:prstGeom>
          <a:solidFill>
            <a:srgbClr val="EF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6188" y="2194560"/>
            <a:ext cx="3125114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1424B"/>
                </a:solidFill>
                <a:latin typeface="Calibri"/>
              </a:rPr>
              <a:t>El proveedor levantó el servicio en su propia nube, distinta a la que la organización ya usaba.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B7A82"/>
                </a:solidFill>
                <a:latin typeface="Calibri"/>
              </a:rPr>
              <a:t>Hoy: Nadie lo objetó: no había lineamiento que objetar. Hoy hay tres servicios en dos nubes distintas.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800600"/>
            <a:ext cx="10820095" cy="822960"/>
          </a:xfrm>
          <a:prstGeom prst="rect">
            <a:avLst/>
          </a:prstGeom>
          <a:solidFill>
            <a:srgbClr val="1C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956048"/>
            <a:ext cx="10088575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Cambria"/>
              </a:rPr>
              <a:t>Ninguno de los tres equipos actuó de mala fe. No había norma frente a la cual excepcionar: el problema no es de personas, es de gobierno.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053328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A82"/>
                </a:solidFill>
                <a:latin typeface="Calibri"/>
              </a:rPr>
              <a:t>Red Salud Andina, dossier §10. Estos tres episodios vuelven en los ejemplos guiados y son el modelo de lo que ustedes harán en el taller.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92608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2622C"/>
                </a:solidFill>
                <a:latin typeface="Calibri"/>
              </a:rPr>
              <a:t>BLOQUE 1 · CON QUÉ SE GOBIERNA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3035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C2B33"/>
                </a:solidFill>
                <a:latin typeface="Cambria"/>
              </a:rPr>
              <a:t>Tres mecanismos, y ninguno funciona solo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3454298" cy="420624"/>
          </a:xfrm>
          <a:prstGeom prst="rect">
            <a:avLst/>
          </a:prstGeom>
          <a:solidFill>
            <a:srgbClr val="467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1737360"/>
            <a:ext cx="312511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Cambria"/>
              </a:rPr>
              <a:t>Quién decide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066544"/>
            <a:ext cx="3454298" cy="2596896"/>
          </a:xfrm>
          <a:prstGeom prst="rect">
            <a:avLst/>
          </a:prstGeom>
          <a:solidFill>
            <a:srgbClr val="EF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194560"/>
            <a:ext cx="3125114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1424B"/>
                </a:solidFill>
                <a:latin typeface="Calibri"/>
              </a:rPr>
              <a:t>El </a:t>
            </a:r>
            <a:r>
              <a:rPr sz="1300" b="1">
                <a:solidFill>
                  <a:srgbClr val="31424B"/>
                </a:solidFill>
                <a:latin typeface="Calibri"/>
              </a:rPr>
              <a:t>Architecture Review Board</a:t>
            </a:r>
            <a:r>
              <a:rPr sz="1300" b="0">
                <a:solidFill>
                  <a:srgbClr val="31424B"/>
                </a:solidFill>
                <a:latin typeface="Calibri"/>
              </a:rPr>
              <a:t>: el órgano que dictamina si una iniciativa es conforme.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1424B"/>
                </a:solidFill>
                <a:latin typeface="Calibri"/>
              </a:rPr>
              <a:t>Pequeño —4 o 5 permanentes, nunca más de 10—, con mandato de un órgano superior y con horas reales.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68698" y="1645920"/>
            <a:ext cx="3454298" cy="420624"/>
          </a:xfrm>
          <a:prstGeom prst="rect">
            <a:avLst/>
          </a:prstGeom>
          <a:solidFill>
            <a:srgbClr val="C2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33290" y="1737360"/>
            <a:ext cx="312511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Cambria"/>
              </a:rPr>
              <a:t>Con qué regla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2066544"/>
            <a:ext cx="3454298" cy="2596896"/>
          </a:xfrm>
          <a:prstGeom prst="rect">
            <a:avLst/>
          </a:prstGeom>
          <a:solidFill>
            <a:srgbClr val="EF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33290" y="2194560"/>
            <a:ext cx="3125114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1424B"/>
                </a:solidFill>
                <a:latin typeface="Calibri"/>
              </a:rPr>
              <a:t>Los </a:t>
            </a:r>
            <a:r>
              <a:rPr sz="1300" b="1">
                <a:solidFill>
                  <a:srgbClr val="31424B"/>
                </a:solidFill>
                <a:latin typeface="Calibri"/>
              </a:rPr>
              <a:t>principios</a:t>
            </a:r>
            <a:r>
              <a:rPr sz="1300" b="0">
                <a:solidFill>
                  <a:srgbClr val="31424B"/>
                </a:solidFill>
                <a:latin typeface="Calibri"/>
              </a:rPr>
              <a:t>: reglas duraderas con nombre, enunciado, motivación e implicaciones.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1424B"/>
                </a:solidFill>
                <a:latin typeface="Calibri"/>
              </a:rPr>
              <a:t>Salen de hechos de la organización. Si nadie estaría en desacuerdo, no restringen nada.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51596" y="1645920"/>
            <a:ext cx="3454298" cy="420624"/>
          </a:xfrm>
          <a:prstGeom prst="rect">
            <a:avLst/>
          </a:prstGeom>
          <a:solidFill>
            <a:srgbClr val="9E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16188" y="1737360"/>
            <a:ext cx="312511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Cambria"/>
              </a:rPr>
              <a:t>En qué momento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51596" y="2066544"/>
            <a:ext cx="3454298" cy="2596896"/>
          </a:xfrm>
          <a:prstGeom prst="rect">
            <a:avLst/>
          </a:prstGeom>
          <a:solidFill>
            <a:srgbClr val="EF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6188" y="2194560"/>
            <a:ext cx="3125114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1424B"/>
                </a:solidFill>
                <a:latin typeface="Calibri"/>
              </a:rPr>
              <a:t>La </a:t>
            </a:r>
            <a:r>
              <a:rPr sz="1300" b="1">
                <a:solidFill>
                  <a:srgbClr val="31424B"/>
                </a:solidFill>
                <a:latin typeface="Calibri"/>
              </a:rPr>
              <a:t>revisión de cumplimiento</a:t>
            </a:r>
            <a:r>
              <a:rPr sz="1300" b="0">
                <a:solidFill>
                  <a:srgbClr val="31424B"/>
                </a:solidFill>
                <a:latin typeface="Calibri"/>
              </a:rPr>
              <a:t>: qué se revisa, cuándo y con qué lista.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1424B"/>
                </a:solidFill>
                <a:latin typeface="Calibri"/>
              </a:rPr>
              <a:t>R0 idea · R1 diseño · R2 salida a producción. Termina en un dictamen escrito.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892040"/>
            <a:ext cx="10820095" cy="777240"/>
          </a:xfrm>
          <a:prstGeom prst="rect">
            <a:avLst/>
          </a:prstGeom>
          <a:solidFill>
            <a:srgbClr val="1C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047488"/>
            <a:ext cx="1008857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Cambria"/>
              </a:rPr>
              <a:t>Un ARB sin principios decide por gusto. Unos principios sin revisión son un póster. Una revisión sin ARB no tiene quién firme.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92608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2622C"/>
                </a:solidFill>
                <a:latin typeface="Calibri"/>
              </a:rPr>
              <a:t>BLOQUE 1 · EL CORAZÓN DEL ASUNTO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3035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C2B33"/>
                </a:solidFill>
                <a:latin typeface="Cambria"/>
              </a:rPr>
              <a:t>La excepción: lo que separa el gobierno del trámite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5295747" cy="420624"/>
          </a:xfrm>
          <a:prstGeom prst="rect">
            <a:avLst/>
          </a:prstGeom>
          <a:solidFill>
            <a:srgbClr val="3453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1737360"/>
            <a:ext cx="496656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Cambria"/>
              </a:rPr>
              <a:t>Sin ruta de excepción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066544"/>
            <a:ext cx="5295747" cy="1865376"/>
          </a:xfrm>
          <a:prstGeom prst="rect">
            <a:avLst/>
          </a:prstGeom>
          <a:solidFill>
            <a:srgbClr val="EF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194560"/>
            <a:ext cx="4966563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50" b="0">
                <a:solidFill>
                  <a:srgbClr val="31424B"/>
                </a:solidFill>
                <a:latin typeface="Calibri"/>
              </a:rPr>
              <a:t>El equipo con un plazo real tiene dos salidas: mentir o construir por fuera.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31424B"/>
                </a:solidFill>
                <a:latin typeface="Calibri"/>
              </a:rPr>
              <a:t>Es lo que pasó con el portal del laboratorio: nadie en TI lo supo hasta 2024.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0147" y="1645920"/>
            <a:ext cx="5295747" cy="420624"/>
          </a:xfrm>
          <a:prstGeom prst="rect">
            <a:avLst/>
          </a:prstGeom>
          <a:solidFill>
            <a:srgbClr val="C2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4739" y="1737360"/>
            <a:ext cx="496656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Cambria"/>
              </a:rPr>
              <a:t>Con ruta de excepción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2066544"/>
            <a:ext cx="5295747" cy="1865376"/>
          </a:xfrm>
          <a:prstGeom prst="rect">
            <a:avLst/>
          </a:prstGeom>
          <a:solidFill>
            <a:srgbClr val="EF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4739" y="2194560"/>
            <a:ext cx="4966563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50" b="0">
                <a:solidFill>
                  <a:srgbClr val="31424B"/>
                </a:solidFill>
                <a:latin typeface="Calibri"/>
              </a:rPr>
              <a:t>La desviación se acepta, pero se escribe: principio, riesgo, dueño, plan de retorno y </a:t>
            </a:r>
            <a:r>
              <a:rPr sz="1350" b="1">
                <a:solidFill>
                  <a:srgbClr val="31424B"/>
                </a:solidFill>
                <a:latin typeface="Calibri"/>
              </a:rPr>
              <a:t>vencimiento</a:t>
            </a:r>
            <a:r>
              <a:rPr sz="1350" b="0">
                <a:solidFill>
                  <a:srgbClr val="31424B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31424B"/>
                </a:solidFill>
                <a:latin typeface="Calibri"/>
              </a:rPr>
              <a:t>Si deja deuda, abre una partida en el registro de la Unidad 2, con su interés mensual.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160520"/>
            <a:ext cx="2926078" cy="329184"/>
          </a:xfrm>
          <a:prstGeom prst="rect">
            <a:avLst/>
          </a:prstGeom>
          <a:solidFill>
            <a:srgbClr val="1C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215384"/>
            <a:ext cx="27432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Calibri"/>
              </a:rPr>
              <a:t>Dictamen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11880" y="4160520"/>
            <a:ext cx="7891270" cy="329184"/>
          </a:xfrm>
          <a:prstGeom prst="rect">
            <a:avLst/>
          </a:prstGeom>
          <a:solidFill>
            <a:srgbClr val="1C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03320" y="4215384"/>
            <a:ext cx="77083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Calibri"/>
              </a:rPr>
              <a:t>Qué significa para el proyecto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489704"/>
            <a:ext cx="2926078" cy="329182"/>
          </a:xfrm>
          <a:prstGeom prst="rect">
            <a:avLst/>
          </a:prstGeom>
          <a:solidFill>
            <a:srgbClr val="EFF2F3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54456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31424B"/>
                </a:solidFill>
                <a:latin typeface="Calibri"/>
              </a:rPr>
              <a:t>Conforme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1880" y="4489704"/>
            <a:ext cx="7891270" cy="329182"/>
          </a:xfrm>
          <a:prstGeom prst="rect">
            <a:avLst/>
          </a:prstGeom>
          <a:solidFill>
            <a:srgbClr val="EFF2F3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03320" y="4544568"/>
            <a:ext cx="770839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0">
                <a:solidFill>
                  <a:srgbClr val="31424B"/>
                </a:solidFill>
                <a:latin typeface="Calibri"/>
              </a:rPr>
              <a:t>Sigue sin condiciones.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818888"/>
            <a:ext cx="2926078" cy="329182"/>
          </a:xfrm>
          <a:prstGeom prst="rect">
            <a:avLst/>
          </a:prstGeom>
          <a:solidFill>
            <a:srgbClr val="FFFFFF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873752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31424B"/>
                </a:solidFill>
                <a:latin typeface="Calibri"/>
              </a:rPr>
              <a:t>Conforme con condiciones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11880" y="4818888"/>
            <a:ext cx="7891270" cy="329182"/>
          </a:xfrm>
          <a:prstGeom prst="rect">
            <a:avLst/>
          </a:prstGeom>
          <a:solidFill>
            <a:srgbClr val="FFFFFF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03320" y="4873752"/>
            <a:ext cx="770839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0">
                <a:solidFill>
                  <a:srgbClr val="31424B"/>
                </a:solidFill>
                <a:latin typeface="Calibri"/>
              </a:rPr>
              <a:t>Sigue si cumple las condiciones escritas en el dictamen, que se verifican en R2.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5148072"/>
            <a:ext cx="2926078" cy="329182"/>
          </a:xfrm>
          <a:prstGeom prst="rect">
            <a:avLst/>
          </a:prstGeom>
          <a:solidFill>
            <a:srgbClr val="EFF2F3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202936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31424B"/>
                </a:solidFill>
                <a:latin typeface="Calibri"/>
              </a:rPr>
              <a:t>Excepción con vencimiento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11880" y="5148072"/>
            <a:ext cx="7891270" cy="329182"/>
          </a:xfrm>
          <a:prstGeom prst="rect">
            <a:avLst/>
          </a:prstGeom>
          <a:solidFill>
            <a:srgbClr val="EFF2F3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03320" y="5202936"/>
            <a:ext cx="770839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0">
                <a:solidFill>
                  <a:srgbClr val="31424B"/>
                </a:solidFill>
                <a:latin typeface="Calibri"/>
              </a:rPr>
              <a:t>Se acepta una desviación de un principio por un tiempo acotado, con plan de retorno, dueño y registro. No aplica a P1 ni a P6.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5477256"/>
            <a:ext cx="2926078" cy="329182"/>
          </a:xfrm>
          <a:prstGeom prst="rect">
            <a:avLst/>
          </a:prstGeom>
          <a:solidFill>
            <a:srgbClr val="FFFFFF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53212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31424B"/>
                </a:solidFill>
                <a:latin typeface="Calibri"/>
              </a:rPr>
              <a:t>No conforme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11880" y="5477256"/>
            <a:ext cx="7891270" cy="329182"/>
          </a:xfrm>
          <a:prstGeom prst="rect">
            <a:avLst/>
          </a:prstGeom>
          <a:solidFill>
            <a:srgbClr val="FFFFFF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03320" y="5532120"/>
            <a:ext cx="770839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0">
                <a:solidFill>
                  <a:srgbClr val="31424B"/>
                </a:solidFill>
                <a:latin typeface="Calibri"/>
              </a:rPr>
              <a:t>Se devuelve: no puede seguir hasta corregir.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6053328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A82"/>
                </a:solidFill>
                <a:latin typeface="Calibri"/>
              </a:rPr>
              <a:t>Los cuatro dictámenes traducen los seis niveles de conformidad de TOGAF a lo que el proyecto necesita saber.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92608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2622C"/>
                </a:solidFill>
                <a:latin typeface="Calibri"/>
              </a:rPr>
              <a:t>BLOQUE 1 · DÓNDE ENCAJA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3035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C2B33"/>
                </a:solidFill>
                <a:latin typeface="Cambria"/>
              </a:rPr>
              <a:t>COBIT dice qué debe existir; TOGAF, cómo operarlo; ITIL, por dónde pasa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1828798" cy="384048"/>
          </a:xfrm>
          <a:prstGeom prst="rect">
            <a:avLst/>
          </a:prstGeom>
          <a:solidFill>
            <a:srgbClr val="1C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00784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Marco</a:t>
            </a:r>
          </a:p>
        </p:txBody>
      </p:sp>
      <p:sp>
        <p:nvSpPr>
          <p:cNvPr id="6" name="Rectangle 5"/>
          <p:cNvSpPr/>
          <p:nvPr/>
        </p:nvSpPr>
        <p:spPr>
          <a:xfrm>
            <a:off x="2514600" y="1645920"/>
            <a:ext cx="3840478" cy="384048"/>
          </a:xfrm>
          <a:prstGeom prst="rect">
            <a:avLst/>
          </a:prstGeom>
          <a:solidFill>
            <a:srgbClr val="1C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06040" y="1700784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Qué aporta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645920"/>
            <a:ext cx="5148070" cy="384048"/>
          </a:xfrm>
          <a:prstGeom prst="rect">
            <a:avLst/>
          </a:prstGeom>
          <a:solidFill>
            <a:srgbClr val="1C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700784"/>
            <a:ext cx="496519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Lo que hay que saber hoy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029968"/>
            <a:ext cx="1828798" cy="868678"/>
          </a:xfrm>
          <a:prstGeom prst="rect">
            <a:avLst/>
          </a:prstGeom>
          <a:solidFill>
            <a:srgbClr val="EFF2F3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084832"/>
            <a:ext cx="16459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31424B"/>
                </a:solidFill>
                <a:latin typeface="Calibri"/>
              </a:rPr>
              <a:t>COBIT 2019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14600" y="2029968"/>
            <a:ext cx="3840478" cy="868678"/>
          </a:xfrm>
          <a:prstGeom prst="rect">
            <a:avLst/>
          </a:prstGeom>
          <a:solidFill>
            <a:srgbClr val="EFF2F3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06040" y="2084832"/>
            <a:ext cx="3657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31424B"/>
                </a:solidFill>
                <a:latin typeface="Calibri"/>
              </a:rPr>
              <a:t>Qué debe lograr el gobierno de la información y la tecnología en toda la empresa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2029968"/>
            <a:ext cx="5148070" cy="868678"/>
          </a:xfrm>
          <a:prstGeom prst="rect">
            <a:avLst/>
          </a:prstGeom>
          <a:solidFill>
            <a:srgbClr val="EFF2F3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84832"/>
            <a:ext cx="4965192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31424B"/>
                </a:solidFill>
                <a:latin typeface="Calibri"/>
              </a:rPr>
              <a:t>APO03 es «arquitectura empresarial gestionada»: el objetivo que el ARB opera. Niveles de capacidad de 0 a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898648"/>
            <a:ext cx="1828798" cy="777238"/>
          </a:xfrm>
          <a:prstGeom prst="rect">
            <a:avLst/>
          </a:prstGeom>
          <a:solidFill>
            <a:srgbClr val="FFFFFF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953512"/>
            <a:ext cx="16459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31424B"/>
                </a:solidFill>
                <a:latin typeface="Calibri"/>
              </a:rPr>
              <a:t>TOGAF 10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14600" y="2898648"/>
            <a:ext cx="3840478" cy="777238"/>
          </a:xfrm>
          <a:prstGeom prst="rect">
            <a:avLst/>
          </a:prstGeom>
          <a:solidFill>
            <a:srgbClr val="FFFFFF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06040" y="2953512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31424B"/>
                </a:solidFill>
                <a:latin typeface="Calibri"/>
              </a:rPr>
              <a:t>Cómo se gobierna la arquitectura: órgano, proceso y criterios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5080" y="2898648"/>
            <a:ext cx="5148070" cy="777238"/>
          </a:xfrm>
          <a:prstGeom prst="rect">
            <a:avLst/>
          </a:prstGeom>
          <a:solidFill>
            <a:srgbClr val="FFFFFF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2953512"/>
            <a:ext cx="496519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31424B"/>
                </a:solidFill>
                <a:latin typeface="Calibri"/>
              </a:rPr>
              <a:t>Architecture Board · revisión de cumplimiento · dispensas · contratos de arquitectura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3675888"/>
            <a:ext cx="1828798" cy="777238"/>
          </a:xfrm>
          <a:prstGeom prst="rect">
            <a:avLst/>
          </a:prstGeom>
          <a:solidFill>
            <a:srgbClr val="EFF2F3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730752"/>
            <a:ext cx="16459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31424B"/>
                </a:solidFill>
                <a:latin typeface="Calibri"/>
              </a:rPr>
              <a:t>ITIL 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14600" y="3675888"/>
            <a:ext cx="3840478" cy="777238"/>
          </a:xfrm>
          <a:prstGeom prst="rect">
            <a:avLst/>
          </a:prstGeom>
          <a:solidFill>
            <a:srgbClr val="EFF2F3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06040" y="3730752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31424B"/>
                </a:solidFill>
                <a:latin typeface="Calibri"/>
              </a:rPr>
              <a:t>Por dónde pasa el gobierno en la operación diaria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55080" y="3675888"/>
            <a:ext cx="5148070" cy="777238"/>
          </a:xfrm>
          <a:prstGeom prst="rect">
            <a:avLst/>
          </a:prstGeom>
          <a:solidFill>
            <a:srgbClr val="EFF2F3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3730752"/>
            <a:ext cx="496519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31424B"/>
                </a:solidFill>
                <a:latin typeface="Calibri"/>
              </a:rPr>
              <a:t>Habilitación del cambio: ningún cambio mayor a producción sin el dictamen del ARB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4754880"/>
            <a:ext cx="10820095" cy="822960"/>
          </a:xfrm>
          <a:prstGeom prst="rect">
            <a:avLst/>
          </a:prstGeom>
          <a:solidFill>
            <a:srgbClr val="1C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1560" y="4910328"/>
            <a:ext cx="10088575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0">
                <a:solidFill>
                  <a:srgbClr val="FFFFFF"/>
                </a:solidFill>
                <a:latin typeface="Cambria"/>
              </a:rPr>
              <a:t>Ojo con una trampa de la rúbrica: EDM01 es un objetivo de gobierno, no de gestión. Se puede mencionar, pero no cuenta como el segundo objetivo que piden.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053328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A82"/>
                </a:solidFill>
                <a:latin typeface="Calibri"/>
              </a:rPr>
              <a:t>La 3.2 pide APO03 y al menos otro objetivo de gestión, con nivel actual, objetivo y plazo.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92608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2622C"/>
                </a:solidFill>
                <a:latin typeface="Calibri"/>
              </a:rPr>
              <a:t>LA ACTIVIDAD 3.1, GUIADA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3035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C2B33"/>
                </a:solidFill>
                <a:latin typeface="Cambria"/>
              </a:rPr>
              <a:t>Dos comparativos de una página, individuales y sin nota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00200"/>
            <a:ext cx="5295747" cy="457200"/>
          </a:xfrm>
          <a:prstGeom prst="rect">
            <a:avLst/>
          </a:prstGeom>
          <a:solidFill>
            <a:srgbClr val="467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1691640"/>
            <a:ext cx="4966563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Cambria"/>
              </a:rPr>
              <a:t>A · COBIT 2019 frente a TOGAF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057400"/>
            <a:ext cx="5295747" cy="1874520"/>
          </a:xfrm>
          <a:prstGeom prst="rect">
            <a:avLst/>
          </a:prstGeom>
          <a:solidFill>
            <a:srgbClr val="EF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185416"/>
            <a:ext cx="4966563" cy="16093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>
                <a:solidFill>
                  <a:srgbClr val="31424B"/>
                </a:solidFill>
                <a:latin typeface="Calibri"/>
              </a:rPr>
              <a:t>Una fila resuelta, para que vean la forma: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31424B"/>
                </a:solidFill>
                <a:latin typeface="Calibri"/>
              </a:rPr>
              <a:t>Órgano que decide</a:t>
            </a:r>
            <a:r>
              <a:rPr sz="1250" b="0">
                <a:solidFill>
                  <a:srgbClr val="31424B"/>
                </a:solidFill>
                <a:latin typeface="Calibri"/>
              </a:rPr>
              <a:t> · COBIT: no lo prescribe, reparte responsabilidades por práctica · TOGAF: el Architecture Board, con tamaño y mandato.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6B7A82"/>
                </a:solidFill>
                <a:latin typeface="Calibri"/>
              </a:rPr>
              <a:t>Así no: dos párrafos que describen cada marco por separado. Eso es un resumen, no un comparativo.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0147" y="1600200"/>
            <a:ext cx="5295747" cy="457200"/>
          </a:xfrm>
          <a:prstGeom prst="rect">
            <a:avLst/>
          </a:prstGeom>
          <a:solidFill>
            <a:srgbClr val="C2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4739" y="1691640"/>
            <a:ext cx="4966563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Cambria"/>
              </a:rPr>
              <a:t>B · La normativa colombiana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2057400"/>
            <a:ext cx="5295747" cy="1874520"/>
          </a:xfrm>
          <a:prstGeom prst="rect">
            <a:avLst/>
          </a:prstGeom>
          <a:solidFill>
            <a:srgbClr val="EF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4739" y="2185416"/>
            <a:ext cx="4966563" cy="16093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>
                <a:solidFill>
                  <a:srgbClr val="31424B"/>
                </a:solidFill>
                <a:latin typeface="Calibri"/>
              </a:rPr>
              <a:t>Una norma resuelta: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31424B"/>
                </a:solidFill>
                <a:latin typeface="Calibri"/>
              </a:rPr>
              <a:t>Resolución 1978 de 2023</a:t>
            </a:r>
            <a:r>
              <a:rPr sz="1250" b="0">
                <a:solidFill>
                  <a:srgbClr val="31424B"/>
                </a:solidFill>
                <a:latin typeface="Calibri"/>
              </a:rPr>
              <a:t> (MRAE v3) · obliga a los sujetos obligados del Decreto 1078 de 2015 · a una IPS privada </a:t>
            </a:r>
            <a:r>
              <a:rPr sz="1250" b="1">
                <a:solidFill>
                  <a:srgbClr val="31424B"/>
                </a:solidFill>
                <a:latin typeface="Calibri"/>
              </a:rPr>
              <a:t>no</a:t>
            </a:r>
            <a:r>
              <a:rPr sz="1250" b="0">
                <a:solidFill>
                  <a:srgbClr val="31424B"/>
                </a:solidFill>
                <a:latin typeface="Calibri"/>
              </a:rPr>
              <a:t> la obliga: es referencia.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6B7A82"/>
                </a:solidFill>
                <a:latin typeface="Calibri"/>
              </a:rPr>
              <a:t>El comparativo se juega en la obligatoriedad: qué los obliga a ustedes y por qué.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206240"/>
            <a:ext cx="2377438" cy="365760"/>
          </a:xfrm>
          <a:prstGeom prst="rect">
            <a:avLst/>
          </a:prstGeom>
          <a:solidFill>
            <a:srgbClr val="1C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261104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Qué entregan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63240" y="4206240"/>
            <a:ext cx="4206238" cy="365760"/>
          </a:xfrm>
          <a:prstGeom prst="rect">
            <a:avLst/>
          </a:prstGeom>
          <a:solidFill>
            <a:srgbClr val="1C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54680" y="4261104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Con qué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69480" y="4206240"/>
            <a:ext cx="4233670" cy="365760"/>
          </a:xfrm>
          <a:prstGeom prst="rect">
            <a:avLst/>
          </a:prstGeom>
          <a:solidFill>
            <a:srgbClr val="1C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4261104"/>
            <a:ext cx="4050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Cuándo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572000"/>
            <a:ext cx="2377438" cy="640078"/>
          </a:xfrm>
          <a:prstGeom prst="rect">
            <a:avLst/>
          </a:prstGeom>
          <a:solidFill>
            <a:srgbClr val="EFF2F3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626864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31424B"/>
                </a:solidFill>
                <a:latin typeface="Calibri"/>
              </a:rPr>
              <a:t>Dos páginas, una por comparativo, en APA 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63240" y="4572000"/>
            <a:ext cx="4206238" cy="640078"/>
          </a:xfrm>
          <a:prstGeom prst="rect">
            <a:avLst/>
          </a:prstGeom>
          <a:solidFill>
            <a:srgbClr val="EFF2F3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54680" y="4626864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31424B"/>
                </a:solidFill>
                <a:latin typeface="Calibri"/>
              </a:rPr>
              <a:t>F-21 y la guía de la Actividad 3.1; pestañas del Mapa COBIT · TOGAF · ITIL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69480" y="4572000"/>
            <a:ext cx="4233670" cy="640078"/>
          </a:xfrm>
          <a:prstGeom prst="rect">
            <a:avLst/>
          </a:prstGeom>
          <a:solidFill>
            <a:srgbClr val="EFF2F3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60920" y="4626864"/>
            <a:ext cx="405079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31424B"/>
                </a:solidFill>
                <a:latin typeface="Calibri"/>
              </a:rPr>
              <a:t>Fuera de clase, individual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5440680"/>
            <a:ext cx="10820095" cy="566928"/>
          </a:xfrm>
          <a:prstGeom prst="rect">
            <a:avLst/>
          </a:prstGeom>
          <a:solidFill>
            <a:srgbClr val="1C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596128"/>
            <a:ext cx="1008857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0">
                <a:solidFill>
                  <a:srgbClr val="FFFFFF"/>
                </a:solidFill>
                <a:latin typeface="Cambria"/>
              </a:rPr>
              <a:t>Pausa. Al regresar empiezan los ejemplos guiados de la 3.2.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053328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A82"/>
                </a:solidFill>
                <a:latin typeface="Calibri"/>
              </a:rPr>
              <a:t>Normas verificadas en septiembre de 2026; confirmen vigencia en el normograma del MinTIC o del Ministerio de Salud antes de citarlas.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92608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2622C"/>
                </a:solidFill>
                <a:latin typeface="Calibri"/>
              </a:rPr>
              <a:t>BLOQUE 2 · EJEMPLO GUIADO 1 · F-23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3035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C2B33"/>
                </a:solidFill>
                <a:latin typeface="Cambria"/>
              </a:rPr>
              <a:t>Del episodio al principio, paso a paso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566928" cy="694944"/>
          </a:xfrm>
          <a:prstGeom prst="rect">
            <a:avLst/>
          </a:prstGeom>
          <a:solidFill>
            <a:srgbClr val="C2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27632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1252728" y="1481328"/>
            <a:ext cx="10253167" cy="694944"/>
          </a:xfrm>
          <a:prstGeom prst="rect">
            <a:avLst/>
          </a:prstGeom>
          <a:solidFill>
            <a:srgbClr val="EF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1591056"/>
            <a:ext cx="9814255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50" b="1">
                <a:solidFill>
                  <a:srgbClr val="1C2B33"/>
                </a:solidFill>
                <a:latin typeface="Calibri"/>
              </a:rPr>
              <a:t>1 · Tomen el episodio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1424B"/>
                </a:solidFill>
                <a:latin typeface="Calibri"/>
              </a:rPr>
              <a:t>«Un cambio de esquema en una tabla de HIS-CORE dejó tres días sin facturar, porque FACT-SALUD leía esa tabla directamente.»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267712"/>
            <a:ext cx="566928" cy="694944"/>
          </a:xfrm>
          <a:prstGeom prst="rect">
            <a:avLst/>
          </a:prstGeom>
          <a:solidFill>
            <a:srgbClr val="C2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414016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52728" y="2267712"/>
            <a:ext cx="10253167" cy="694944"/>
          </a:xfrm>
          <a:prstGeom prst="rect">
            <a:avLst/>
          </a:prstGeom>
          <a:solidFill>
            <a:srgbClr val="EF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2377440"/>
            <a:ext cx="9814255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50" b="1">
                <a:solidFill>
                  <a:srgbClr val="1C2B33"/>
                </a:solidFill>
                <a:latin typeface="Calibri"/>
              </a:rPr>
              <a:t>2 · Pregunten qué regla lo habría evitado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1424B"/>
                </a:solidFill>
                <a:latin typeface="Calibri"/>
              </a:rPr>
              <a:t>No «qué estuvo mal», sino qué regla, escrita antes, habría hecho que alguien lo objetara.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054096"/>
            <a:ext cx="566928" cy="694944"/>
          </a:xfrm>
          <a:prstGeom prst="rect">
            <a:avLst/>
          </a:prstGeom>
          <a:solidFill>
            <a:srgbClr val="C2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200400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52728" y="3054096"/>
            <a:ext cx="10253167" cy="694944"/>
          </a:xfrm>
          <a:prstGeom prst="rect">
            <a:avLst/>
          </a:prstGeom>
          <a:solidFill>
            <a:srgbClr val="EF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3163824"/>
            <a:ext cx="9814255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50" b="1">
                <a:solidFill>
                  <a:srgbClr val="1C2B33"/>
                </a:solidFill>
                <a:latin typeface="Calibri"/>
              </a:rPr>
              <a:t>3 · Escríbanla como enunciado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1424B"/>
                </a:solidFill>
                <a:latin typeface="Calibri"/>
              </a:rPr>
              <a:t>«Toda integración entre sistemas usa una interfaz publicada y versionada (API o mensaje); se prohíbe leer o escribir la base de datos de otro sistema.»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840480"/>
            <a:ext cx="566928" cy="694944"/>
          </a:xfrm>
          <a:prstGeom prst="rect">
            <a:avLst/>
          </a:prstGeom>
          <a:solidFill>
            <a:srgbClr val="C2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986784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52728" y="3840480"/>
            <a:ext cx="10253167" cy="694944"/>
          </a:xfrm>
          <a:prstGeom prst="rect">
            <a:avLst/>
          </a:prstGeom>
          <a:solidFill>
            <a:srgbClr val="EF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3950208"/>
            <a:ext cx="9814255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50" b="1">
                <a:solidFill>
                  <a:srgbClr val="1C2B33"/>
                </a:solidFill>
                <a:latin typeface="Calibri"/>
              </a:rPr>
              <a:t>4 · La motivación es el hecho, no la teoría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1424B"/>
                </a:solidFill>
                <a:latin typeface="Calibri"/>
              </a:rPr>
              <a:t>«Un cambio de esquema en HIS-CORE dejó tres días sin facturar; PORTAL-B2B lee la base de LIS-LAB y bloquea su actualización.»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626864"/>
            <a:ext cx="566928" cy="694944"/>
          </a:xfrm>
          <a:prstGeom prst="rect">
            <a:avLst/>
          </a:prstGeom>
          <a:solidFill>
            <a:srgbClr val="C2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77316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2728" y="4626864"/>
            <a:ext cx="10253167" cy="694944"/>
          </a:xfrm>
          <a:prstGeom prst="rect">
            <a:avLst/>
          </a:prstGeom>
          <a:solidFill>
            <a:srgbClr val="EF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63040" y="4736592"/>
            <a:ext cx="9814255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50" b="1">
                <a:solidFill>
                  <a:srgbClr val="1C2B33"/>
                </a:solidFill>
                <a:latin typeface="Calibri"/>
              </a:rPr>
              <a:t>5 · Las implicaciones dicen qué cuesta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1424B"/>
                </a:solidFill>
                <a:latin typeface="Calibri"/>
              </a:rPr>
              <a:t>«Las integraciones nuevas pasan por el bus o por API con contrato registrado. Las existentes que violan el principio entran al registro de deuda con fecha de retiro.»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5486400"/>
            <a:ext cx="10820095" cy="530352"/>
          </a:xfrm>
          <a:prstGeom prst="rect">
            <a:avLst/>
          </a:prstGeom>
          <a:solidFill>
            <a:srgbClr val="1C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641848"/>
            <a:ext cx="10088575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50" b="0">
                <a:solidFill>
                  <a:srgbClr val="FFFFFF"/>
                </a:solidFill>
                <a:latin typeface="Cambria"/>
              </a:rPr>
              <a:t>La prueba: ¿alguien razonable estaría en desacuerdo? El gerente del laboratorio sí lo estaría, porque le cuesta seis semanas. Por eso es un principio.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053328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A82"/>
                </a:solidFill>
                <a:latin typeface="Calibri"/>
              </a:rPr>
              <a:t>Formato TOGAF: nombre, enunciado, motivación e implicaciones. Los cinco principios de la Unidad 1 (F-09) son el punto de partida.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92608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2622C"/>
                </a:solidFill>
                <a:latin typeface="Calibri"/>
              </a:rPr>
              <a:t>BLOQUE 2 · EJEMPLO GUIADO 2 · F-24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3035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C2B33"/>
                </a:solidFill>
                <a:latin typeface="Cambria"/>
              </a:rPr>
              <a:t>Del principio a la pregunta que lo detecta, y al dictamen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566928" cy="694944"/>
          </a:xfrm>
          <a:prstGeom prst="rect">
            <a:avLst/>
          </a:prstGeom>
          <a:solidFill>
            <a:srgbClr val="C2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27632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1252728" y="1481328"/>
            <a:ext cx="10253167" cy="694944"/>
          </a:xfrm>
          <a:prstGeom prst="rect">
            <a:avLst/>
          </a:prstGeom>
          <a:solidFill>
            <a:srgbClr val="EF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1591056"/>
            <a:ext cx="9814255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50" b="1">
                <a:solidFill>
                  <a:srgbClr val="1C2B33"/>
                </a:solidFill>
                <a:latin typeface="Calibri"/>
              </a:rPr>
              <a:t>1 · Conviertan el principio en pregunta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1424B"/>
                </a:solidFill>
                <a:latin typeface="Calibri"/>
              </a:rPr>
              <a:t>P3 → «¿Todas las integraciones usan una interfaz publicada y versionada? ¿Alguna lee la base de otro sistema?»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267712"/>
            <a:ext cx="566928" cy="694944"/>
          </a:xfrm>
          <a:prstGeom prst="rect">
            <a:avLst/>
          </a:prstGeom>
          <a:solidFill>
            <a:srgbClr val="C2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414016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52728" y="2267712"/>
            <a:ext cx="10253167" cy="694944"/>
          </a:xfrm>
          <a:prstGeom prst="rect">
            <a:avLst/>
          </a:prstGeom>
          <a:solidFill>
            <a:srgbClr val="EF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2377440"/>
            <a:ext cx="9814255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50" b="1">
                <a:solidFill>
                  <a:srgbClr val="1C2B33"/>
                </a:solidFill>
                <a:latin typeface="Calibri"/>
              </a:rPr>
              <a:t>2 · Clasifiquen la iniciativa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1424B"/>
                </a:solidFill>
                <a:latin typeface="Calibri"/>
              </a:rPr>
              <a:t>El portal B2B integra con el LIS y entrega resultados clínicos a terceros: </a:t>
            </a:r>
            <a:r>
              <a:rPr sz="1200" b="1">
                <a:solidFill>
                  <a:srgbClr val="31424B"/>
                </a:solidFill>
                <a:latin typeface="Calibri"/>
              </a:rPr>
              <a:t>tipo A</a:t>
            </a:r>
            <a:r>
              <a:rPr sz="1200" b="0">
                <a:solidFill>
                  <a:srgbClr val="31424B"/>
                </a:solidFill>
                <a:latin typeface="Calibri"/>
              </a:rPr>
              <a:t>, revisión completa.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054096"/>
            <a:ext cx="566928" cy="694944"/>
          </a:xfrm>
          <a:prstGeom prst="rect">
            <a:avLst/>
          </a:prstGeom>
          <a:solidFill>
            <a:srgbClr val="C2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200400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52728" y="3054096"/>
            <a:ext cx="10253167" cy="694944"/>
          </a:xfrm>
          <a:prstGeom prst="rect">
            <a:avLst/>
          </a:prstGeom>
          <a:solidFill>
            <a:srgbClr val="EF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3163824"/>
            <a:ext cx="9814255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50" b="1">
                <a:solidFill>
                  <a:srgbClr val="1C2B33"/>
                </a:solidFill>
                <a:latin typeface="Calibri"/>
              </a:rPr>
              <a:t>3 · Elijan el momento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1424B"/>
                </a:solidFill>
                <a:latin typeface="Calibri"/>
              </a:rPr>
              <a:t>R1 · diseño, por vía rápida en 72 horas: el plazo del cliente era real.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840480"/>
            <a:ext cx="566928" cy="694944"/>
          </a:xfrm>
          <a:prstGeom prst="rect">
            <a:avLst/>
          </a:prstGeom>
          <a:solidFill>
            <a:srgbClr val="C2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986784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52728" y="3840480"/>
            <a:ext cx="10253167" cy="694944"/>
          </a:xfrm>
          <a:prstGeom prst="rect">
            <a:avLst/>
          </a:prstGeom>
          <a:solidFill>
            <a:srgbClr val="EF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3950208"/>
            <a:ext cx="9814255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50" b="1">
                <a:solidFill>
                  <a:srgbClr val="1C2B33"/>
                </a:solidFill>
                <a:latin typeface="Calibri"/>
              </a:rPr>
              <a:t>4 · Respondan la lista y miren qué falla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1424B"/>
                </a:solidFill>
                <a:latin typeface="Calibri"/>
              </a:rPr>
              <a:t>Fallan las preguntas 1, 4 y 9 → P3 y P7. Nivel de conformidad de TOGAF: no conforme.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626864"/>
            <a:ext cx="566928" cy="694944"/>
          </a:xfrm>
          <a:prstGeom prst="rect">
            <a:avLst/>
          </a:prstGeom>
          <a:solidFill>
            <a:srgbClr val="C2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77316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2728" y="4626864"/>
            <a:ext cx="10253167" cy="694944"/>
          </a:xfrm>
          <a:prstGeom prst="rect">
            <a:avLst/>
          </a:prstGeom>
          <a:solidFill>
            <a:srgbClr val="EF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63040" y="4736592"/>
            <a:ext cx="9814255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50" b="1">
                <a:solidFill>
                  <a:srgbClr val="1C2B33"/>
                </a:solidFill>
                <a:latin typeface="Calibri"/>
              </a:rPr>
              <a:t>5 · Dictaminen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31424B"/>
                </a:solidFill>
                <a:latin typeface="Calibri"/>
              </a:rPr>
              <a:t>Excepción con vencimiento</a:t>
            </a:r>
            <a:r>
              <a:rPr sz="1200" b="0">
                <a:solidFill>
                  <a:srgbClr val="31424B"/>
                </a:solidFill>
                <a:latin typeface="Calibri"/>
              </a:rPr>
              <a:t>, porque P3 sí admite excepción. Si hubiera fallado P1 o P6, el único dictamen posible sería «no conforme».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5486400"/>
            <a:ext cx="10820095" cy="530352"/>
          </a:xfrm>
          <a:prstGeom prst="rect">
            <a:avLst/>
          </a:prstGeom>
          <a:solidFill>
            <a:srgbClr val="1C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641848"/>
            <a:ext cx="10088575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0">
                <a:solidFill>
                  <a:srgbClr val="FFFFFF"/>
                </a:solidFill>
                <a:latin typeface="Cambria"/>
              </a:rPr>
              <a:t>Una lista de revisión que no está atada a principios mide cosas que nadie decidió gobernar.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053328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A82"/>
                </a:solidFill>
                <a:latin typeface="Calibri"/>
              </a:rPr>
              <a:t>Herramienta: Compliance Review, con los tres episodios precargados.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92608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2622C"/>
                </a:solidFill>
                <a:latin typeface="Calibri"/>
              </a:rPr>
              <a:t>BLOQUE 2 · EJEMPLO GUIADO 3 · F-22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3035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C2B33"/>
                </a:solidFill>
                <a:latin typeface="Cambria"/>
              </a:rPr>
              <a:t>¿Y quién tenía que haber dicho que no? Las sillas del ARB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00200"/>
            <a:ext cx="566928" cy="868680"/>
          </a:xfrm>
          <a:prstGeom prst="rect">
            <a:avLst/>
          </a:prstGeom>
          <a:solidFill>
            <a:srgbClr val="C2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33372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1252728" y="1600200"/>
            <a:ext cx="10253167" cy="868680"/>
          </a:xfrm>
          <a:prstGeom prst="rect">
            <a:avLst/>
          </a:prstGeom>
          <a:solidFill>
            <a:srgbClr val="EF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1709928"/>
            <a:ext cx="98142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1C2B33"/>
                </a:solidFill>
                <a:latin typeface="Calibri"/>
              </a:rPr>
              <a:t>1 · Partan de la restricción, no del ideal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31424B"/>
                </a:solidFill>
                <a:latin typeface="Calibri"/>
              </a:rPr>
              <a:t>38 personas en TI, un solo arquitecto de soluciones, y el área no crece el próximo año (dossier §13).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578608"/>
            <a:ext cx="566928" cy="868680"/>
          </a:xfrm>
          <a:prstGeom prst="rect">
            <a:avLst/>
          </a:prstGeom>
          <a:solidFill>
            <a:srgbClr val="C2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811780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52728" y="2578608"/>
            <a:ext cx="10253167" cy="868680"/>
          </a:xfrm>
          <a:prstGeom prst="rect">
            <a:avLst/>
          </a:prstGeom>
          <a:solidFill>
            <a:srgbClr val="EF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2688336"/>
            <a:ext cx="98142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1C2B33"/>
                </a:solidFill>
                <a:latin typeface="Calibri"/>
              </a:rPr>
              <a:t>2 · Pregunten quién tenía que estar en esa decisión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31424B"/>
                </a:solidFill>
                <a:latin typeface="Calibri"/>
              </a:rPr>
              <a:t>Quien responde por la continuidad clínica, quien responde por la facturación, quien responde por la nube y los datos, y quien conoce la arquitectura.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557015"/>
            <a:ext cx="566928" cy="868680"/>
          </a:xfrm>
          <a:prstGeom prst="rect">
            <a:avLst/>
          </a:prstGeom>
          <a:solidFill>
            <a:srgbClr val="C2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790187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52728" y="3557015"/>
            <a:ext cx="10253167" cy="868680"/>
          </a:xfrm>
          <a:prstGeom prst="rect">
            <a:avLst/>
          </a:prstGeom>
          <a:solidFill>
            <a:srgbClr val="EF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3666743"/>
            <a:ext cx="98142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1C2B33"/>
                </a:solidFill>
                <a:latin typeface="Calibri"/>
              </a:rPr>
              <a:t>3 · Denle cargo real a cada silla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31424B"/>
                </a:solidFill>
                <a:latin typeface="Calibri"/>
              </a:rPr>
              <a:t>Delegado de la Dirección médica · delegado de la Dirección financiera · líder de infraestructura y seguridad · el arquitecto de soluciones, liberado al 50 % · el CIO preside.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535423"/>
            <a:ext cx="566928" cy="868680"/>
          </a:xfrm>
          <a:prstGeom prst="rect">
            <a:avLst/>
          </a:prstGeom>
          <a:solidFill>
            <a:srgbClr val="C2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768595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52728" y="4535423"/>
            <a:ext cx="10253167" cy="868680"/>
          </a:xfrm>
          <a:prstGeom prst="rect">
            <a:avLst/>
          </a:prstGeom>
          <a:solidFill>
            <a:srgbClr val="EF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4645151"/>
            <a:ext cx="98142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1C2B33"/>
                </a:solidFill>
                <a:latin typeface="Calibri"/>
              </a:rPr>
              <a:t>4 · Cuenten las horas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31424B"/>
                </a:solidFill>
                <a:latin typeface="Calibri"/>
              </a:rPr>
              <a:t>6 + 6 + 8 + 80 + 6 + 2 de invitados = </a:t>
            </a:r>
            <a:r>
              <a:rPr sz="1250" b="1">
                <a:solidFill>
                  <a:srgbClr val="31424B"/>
                </a:solidFill>
                <a:latin typeface="Calibri"/>
              </a:rPr>
              <a:t>108 h al mes</a:t>
            </a:r>
            <a:r>
              <a:rPr sz="1250" b="0">
                <a:solidFill>
                  <a:srgbClr val="31424B"/>
                </a:solidFill>
                <a:latin typeface="Calibri"/>
              </a:rPr>
              <a:t>, el 1,8 % de las 6.080 h del área.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5486400"/>
            <a:ext cx="10820095" cy="530352"/>
          </a:xfrm>
          <a:prstGeom prst="rect">
            <a:avLst/>
          </a:prstGeom>
          <a:solidFill>
            <a:srgbClr val="1C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641848"/>
            <a:ext cx="10088575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0">
                <a:solidFill>
                  <a:srgbClr val="FFFFFF"/>
                </a:solidFill>
                <a:latin typeface="Cambria"/>
              </a:rPr>
              <a:t>Si una silla depende de contratar a alguien, el ARB no existe: su organización no va a crecer para gobernarse.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053328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A82"/>
                </a:solidFill>
                <a:latin typeface="Calibri"/>
              </a:rPr>
              <a:t>TOGAF sugiere 4 o 5 miembros permanentes y nunca más de 10. Herramienta: Diseñador de ARB, que calcula el porcentaje solo.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92608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2622C"/>
                </a:solidFill>
                <a:latin typeface="Calibri"/>
              </a:rPr>
              <a:t>BLOQUE 2 · EJEMPLO GUIADO 4 · F-24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3035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C2B33"/>
                </a:solidFill>
                <a:latin typeface="Cambria"/>
              </a:rPr>
              <a:t>La excepción, diligenciada campo por campo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00200"/>
            <a:ext cx="3657598" cy="429768"/>
          </a:xfrm>
          <a:prstGeom prst="rect">
            <a:avLst/>
          </a:prstGeom>
          <a:solidFill>
            <a:srgbClr val="1C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655064"/>
            <a:ext cx="34747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FFFFFF"/>
                </a:solidFill>
                <a:latin typeface="Calibri"/>
              </a:rPr>
              <a:t>Campo</a:t>
            </a:r>
          </a:p>
        </p:txBody>
      </p:sp>
      <p:sp>
        <p:nvSpPr>
          <p:cNvPr id="6" name="Rectangle 5"/>
          <p:cNvSpPr/>
          <p:nvPr/>
        </p:nvSpPr>
        <p:spPr>
          <a:xfrm>
            <a:off x="4343400" y="1600200"/>
            <a:ext cx="7159750" cy="429768"/>
          </a:xfrm>
          <a:prstGeom prst="rect">
            <a:avLst/>
          </a:prstGeom>
          <a:solidFill>
            <a:srgbClr val="1C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4840" y="1655064"/>
            <a:ext cx="6976872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FFFFFF"/>
                </a:solidFill>
                <a:latin typeface="Calibri"/>
              </a:rPr>
              <a:t>Laboratorio B2B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029968"/>
            <a:ext cx="3657598" cy="429766"/>
          </a:xfrm>
          <a:prstGeom prst="rect">
            <a:avLst/>
          </a:prstGeom>
          <a:solidFill>
            <a:srgbClr val="EFF2F3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84832"/>
            <a:ext cx="3474720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31424B"/>
                </a:solidFill>
                <a:latin typeface="Calibri"/>
              </a:rPr>
              <a:t>Principio del que se desvía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029968"/>
            <a:ext cx="7159750" cy="429766"/>
          </a:xfrm>
          <a:prstGeom prst="rect">
            <a:avLst/>
          </a:prstGeom>
          <a:solidFill>
            <a:srgbClr val="EFF2F3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2084832"/>
            <a:ext cx="6976872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31424B"/>
                </a:solidFill>
                <a:latin typeface="Calibri"/>
              </a:rPr>
              <a:t>P3 · Se integra por contrato, nunca por la base de datos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459736"/>
            <a:ext cx="3657598" cy="429766"/>
          </a:xfrm>
          <a:prstGeom prst="rect">
            <a:avLst/>
          </a:prstGeom>
          <a:solidFill>
            <a:srgbClr val="FFFFFF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514600"/>
            <a:ext cx="3474720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31424B"/>
                </a:solidFill>
                <a:latin typeface="Calibri"/>
              </a:rPr>
              <a:t>Por qué no se puede cumplir ahora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2459736"/>
            <a:ext cx="7159750" cy="429766"/>
          </a:xfrm>
          <a:prstGeom prst="rect">
            <a:avLst/>
          </a:prstGeom>
          <a:solidFill>
            <a:srgbClr val="FFFFFF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2514600"/>
            <a:ext cx="6976872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31424B"/>
                </a:solidFill>
                <a:latin typeface="Calibri"/>
              </a:rPr>
              <a:t>La interfaz formal toma 6 semanas y el cliente empieza en 3 (el hecho, no la preferencia)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889504"/>
            <a:ext cx="3657598" cy="429766"/>
          </a:xfrm>
          <a:prstGeom prst="rect">
            <a:avLst/>
          </a:prstGeom>
          <a:solidFill>
            <a:srgbClr val="EFF2F3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944368"/>
            <a:ext cx="3474720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31424B"/>
                </a:solidFill>
                <a:latin typeface="Calibri"/>
              </a:rPr>
              <a:t>Riesgo que se acepta · quién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2889504"/>
            <a:ext cx="7159750" cy="429766"/>
          </a:xfrm>
          <a:prstGeom prst="rect">
            <a:avLst/>
          </a:prstGeom>
          <a:solidFill>
            <a:srgbClr val="EFF2F3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4840" y="2944368"/>
            <a:ext cx="6976872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31424B"/>
                </a:solidFill>
                <a:latin typeface="Calibri"/>
              </a:rPr>
              <a:t>Una actualización del LIS rompe el portal · lo acepta la gerencia de laboratorio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319272"/>
            <a:ext cx="3657598" cy="429766"/>
          </a:xfrm>
          <a:prstGeom prst="rect">
            <a:avLst/>
          </a:prstGeom>
          <a:solidFill>
            <a:srgbClr val="FFFFFF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374136"/>
            <a:ext cx="3474720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31424B"/>
                </a:solidFill>
                <a:latin typeface="Calibri"/>
              </a:rPr>
              <a:t>Plan de retorno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3319272"/>
            <a:ext cx="7159750" cy="429766"/>
          </a:xfrm>
          <a:prstGeom prst="rect">
            <a:avLst/>
          </a:prstGeom>
          <a:solidFill>
            <a:srgbClr val="FFFFFF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4840" y="3374136"/>
            <a:ext cx="6976872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31424B"/>
                </a:solidFill>
                <a:latin typeface="Calibri"/>
              </a:rPr>
              <a:t>API de resultados sobre el bus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3749040"/>
            <a:ext cx="3657598" cy="429766"/>
          </a:xfrm>
          <a:prstGeom prst="rect">
            <a:avLst/>
          </a:prstGeom>
          <a:solidFill>
            <a:srgbClr val="EFF2F3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803904"/>
            <a:ext cx="3474720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31424B"/>
                </a:solidFill>
                <a:latin typeface="Calibri"/>
              </a:rPr>
              <a:t>Vencimiento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400" y="3749040"/>
            <a:ext cx="7159750" cy="429766"/>
          </a:xfrm>
          <a:prstGeom prst="rect">
            <a:avLst/>
          </a:prstGeom>
          <a:solidFill>
            <a:srgbClr val="EFF2F3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4840" y="3803904"/>
            <a:ext cx="6976872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31424B"/>
                </a:solidFill>
                <a:latin typeface="Calibri"/>
              </a:rPr>
              <a:t>4 meses; renovable una sola vez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4178808"/>
            <a:ext cx="3657598" cy="429766"/>
          </a:xfrm>
          <a:prstGeom prst="rect">
            <a:avLst/>
          </a:prstGeom>
          <a:solidFill>
            <a:srgbClr val="FFFFFF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233672"/>
            <a:ext cx="3474720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31424B"/>
                </a:solidFill>
                <a:latin typeface="Calibri"/>
              </a:rPr>
              <a:t>Deuda que abre (F-18)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43400" y="4178808"/>
            <a:ext cx="7159750" cy="429766"/>
          </a:xfrm>
          <a:prstGeom prst="rect">
            <a:avLst/>
          </a:prstGeom>
          <a:solidFill>
            <a:srgbClr val="FFFFFF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34840" y="4233672"/>
            <a:ext cx="6976872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31424B"/>
                </a:solidFill>
                <a:latin typeface="Calibri"/>
              </a:rPr>
              <a:t>«Acceso directo a LIS-LAB», con interés en horas de soporte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892040"/>
            <a:ext cx="10820095" cy="731520"/>
          </a:xfrm>
          <a:prstGeom prst="rect">
            <a:avLst/>
          </a:prstGeom>
          <a:solidFill>
            <a:srgbClr val="1C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5047488"/>
            <a:ext cx="1008857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Cambria"/>
              </a:rPr>
              <a:t>Una excepción sin vencimiento es una norma nueva que nadie aprobó.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6053328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A82"/>
                </a:solidFill>
                <a:latin typeface="Calibri"/>
              </a:rPr>
              <a:t>El formato completo, con tipos, lista de revisión y dictámenes, está en AREM_S3_Instrumentos.pdf.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92608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2622C"/>
                </a:solidFill>
                <a:latin typeface="Calibri"/>
              </a:rPr>
              <a:t>BLOQUE 2 · EJEMPLO GUIADO 5 · F-26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3035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C2B33"/>
                </a:solidFill>
                <a:latin typeface="Cambria"/>
              </a:rPr>
              <a:t>Una métrica y un riesgo, construidos paso a paso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00200"/>
            <a:ext cx="5295747" cy="420624"/>
          </a:xfrm>
          <a:prstGeom prst="rect">
            <a:avLst/>
          </a:prstGeom>
          <a:solidFill>
            <a:srgbClr val="467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1691640"/>
            <a:ext cx="496656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Cambria"/>
              </a:rPr>
              <a:t>M3 · Interfaces bajo contrato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020824"/>
            <a:ext cx="5295747" cy="2596896"/>
          </a:xfrm>
          <a:prstGeom prst="rect">
            <a:avLst/>
          </a:prstGeom>
          <a:solidFill>
            <a:srgbClr val="EF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148840"/>
            <a:ext cx="4966563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31424B"/>
                </a:solidFill>
                <a:latin typeface="Calibri"/>
              </a:rPr>
              <a:t>Qué mide:</a:t>
            </a:r>
            <a:r>
              <a:rPr sz="1250" b="0">
                <a:solidFill>
                  <a:srgbClr val="31424B"/>
                </a:solidFill>
                <a:latin typeface="Calibri"/>
              </a:rPr>
              <a:t> si el principio P3 se está cumpliendo de verdad.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31424B"/>
                </a:solidFill>
                <a:latin typeface="Calibri"/>
              </a:rPr>
              <a:t>Fórmula:</a:t>
            </a:r>
            <a:r>
              <a:rPr sz="1250" b="0">
                <a:solidFill>
                  <a:srgbClr val="31424B"/>
                </a:solidFill>
                <a:latin typeface="Calibri"/>
              </a:rPr>
              <a:t> interfaces con contrato registrado ÷ interfaces totales × 100.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31424B"/>
                </a:solidFill>
                <a:latin typeface="Calibri"/>
              </a:rPr>
              <a:t>Fuente que ya existe:</a:t>
            </a:r>
            <a:r>
              <a:rPr sz="1250" b="0">
                <a:solidFill>
                  <a:srgbClr val="31424B"/>
                </a:solidFill>
                <a:latin typeface="Calibri"/>
              </a:rPr>
              <a:t> el inventario (41 registradas, 10 estimadas) y la consola del bus (6).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31424B"/>
                </a:solidFill>
                <a:latin typeface="Calibri"/>
              </a:rPr>
              <a:t>Línea base:</a:t>
            </a:r>
            <a:r>
              <a:rPr sz="1250" b="0">
                <a:solidFill>
                  <a:srgbClr val="31424B"/>
                </a:solidFill>
                <a:latin typeface="Calibri"/>
              </a:rPr>
              <a:t> 6 ÷ 51 = 11,8 %. </a:t>
            </a:r>
            <a:r>
              <a:rPr sz="1250" b="1">
                <a:solidFill>
                  <a:srgbClr val="31424B"/>
                </a:solidFill>
                <a:latin typeface="Calibri"/>
              </a:rPr>
              <a:t>Umbral:</a:t>
            </a:r>
            <a:r>
              <a:rPr sz="1250" b="0">
                <a:solidFill>
                  <a:srgbClr val="31424B"/>
                </a:solidFill>
                <a:latin typeface="Calibri"/>
              </a:rPr>
              <a:t> crece menos de 3 puntos en un trimestre.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0147" y="1600200"/>
            <a:ext cx="5295747" cy="420624"/>
          </a:xfrm>
          <a:prstGeom prst="rect">
            <a:avLst/>
          </a:prstGeom>
          <a:solidFill>
            <a:srgbClr val="C2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4739" y="1691640"/>
            <a:ext cx="496656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Cambria"/>
              </a:rPr>
              <a:t>RA-1 · El gobierno se vuelve trámite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2020824"/>
            <a:ext cx="5295747" cy="2596896"/>
          </a:xfrm>
          <a:prstGeom prst="rect">
            <a:avLst/>
          </a:prstGeom>
          <a:solidFill>
            <a:srgbClr val="EF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4739" y="2148840"/>
            <a:ext cx="4966563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31424B"/>
                </a:solidFill>
                <a:latin typeface="Calibri"/>
              </a:rPr>
              <a:t>Causa:</a:t>
            </a:r>
            <a:r>
              <a:rPr sz="1250" b="0">
                <a:solidFill>
                  <a:srgbClr val="31424B"/>
                </a:solidFill>
                <a:latin typeface="Calibri"/>
              </a:rPr>
              <a:t> si el ARB tarda más que el plazo del negocio, los equipos repiten lo del laboratorio.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31424B"/>
                </a:solidFill>
                <a:latin typeface="Calibri"/>
              </a:rPr>
              <a:t>Control concreto:</a:t>
            </a:r>
            <a:r>
              <a:rPr sz="1250" b="0">
                <a:solidFill>
                  <a:srgbClr val="31424B"/>
                </a:solidFill>
                <a:latin typeface="Calibri"/>
              </a:rPr>
              <a:t> vía rápida con dictamen en 72 horas.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31424B"/>
                </a:solidFill>
                <a:latin typeface="Calibri"/>
              </a:rPr>
              <a:t>Control concreto:</a:t>
            </a:r>
            <a:r>
              <a:rPr sz="1250" b="0">
                <a:solidFill>
                  <a:srgbClr val="31424B"/>
                </a:solidFill>
                <a:latin typeface="Calibri"/>
              </a:rPr>
              <a:t> patrones preaprobados; quien los usa pasa directo.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31424B"/>
                </a:solidFill>
                <a:latin typeface="Calibri"/>
              </a:rPr>
              <a:t>Cómo se vigila:</a:t>
            </a:r>
            <a:r>
              <a:rPr sz="1250" b="0">
                <a:solidFill>
                  <a:srgbClr val="31424B"/>
                </a:solidFill>
                <a:latin typeface="Calibri"/>
              </a:rPr>
              <a:t> M5, el tiempo de dictamen del propio ARB (p90 ≤ 10 días).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892040"/>
            <a:ext cx="10820095" cy="777240"/>
          </a:xfrm>
          <a:prstGeom prst="rect">
            <a:avLst/>
          </a:prstGeom>
          <a:solidFill>
            <a:srgbClr val="1C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5047488"/>
            <a:ext cx="1008857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0">
                <a:solidFill>
                  <a:srgbClr val="FFFFFF"/>
                </a:solidFill>
                <a:latin typeface="Cambria"/>
              </a:rPr>
              <a:t>Sin fórmula no se calcula; sin umbral no avisa. «Sensibilizar a los equipos» no es un control: un control es algo que alguien puede verificar.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053328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A82"/>
                </a:solidFill>
                <a:latin typeface="Calibri"/>
              </a:rPr>
              <a:t>La 3.2 pide cinco métricas y tres riesgos. Herramienta: Métricas y riesgos, que no guarda una métrica sin fórmula ni umbral.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92608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2622C"/>
                </a:solidFill>
                <a:latin typeface="Calibri"/>
              </a:rPr>
              <a:t>BLOQUE 2 · EJEMPLO GUIADO 6 · F-25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3035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C2B33"/>
                </a:solidFill>
                <a:latin typeface="Cambria"/>
              </a:rPr>
              <a:t>APO03 y el nivel de capacidad, sin inflarlo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1828798" cy="384048"/>
          </a:xfrm>
          <a:prstGeom prst="rect">
            <a:avLst/>
          </a:prstGeom>
          <a:solidFill>
            <a:srgbClr val="1C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00784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Calibri"/>
              </a:rPr>
              <a:t>Objetivo</a:t>
            </a:r>
          </a:p>
        </p:txBody>
      </p:sp>
      <p:sp>
        <p:nvSpPr>
          <p:cNvPr id="6" name="Rectangle 5"/>
          <p:cNvSpPr/>
          <p:nvPr/>
        </p:nvSpPr>
        <p:spPr>
          <a:xfrm>
            <a:off x="2514600" y="1645920"/>
            <a:ext cx="4571998" cy="384048"/>
          </a:xfrm>
          <a:prstGeom prst="rect">
            <a:avLst/>
          </a:prstGeom>
          <a:solidFill>
            <a:srgbClr val="1C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06040" y="1700784"/>
            <a:ext cx="4389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Calibri"/>
              </a:rPr>
              <a:t>Qué parte del sistema lo opera</a:t>
            </a:r>
          </a:p>
        </p:txBody>
      </p:sp>
      <p:sp>
        <p:nvSpPr>
          <p:cNvPr id="8" name="Rectangle 7"/>
          <p:cNvSpPr/>
          <p:nvPr/>
        </p:nvSpPr>
        <p:spPr>
          <a:xfrm>
            <a:off x="7086600" y="1645920"/>
            <a:ext cx="1737358" cy="384048"/>
          </a:xfrm>
          <a:prstGeom prst="rect">
            <a:avLst/>
          </a:prstGeom>
          <a:solidFill>
            <a:srgbClr val="1C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78040" y="1700784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Calibri"/>
              </a:rPr>
              <a:t>Nivel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23960" y="1645920"/>
            <a:ext cx="2679190" cy="384048"/>
          </a:xfrm>
          <a:prstGeom prst="rect">
            <a:avLst/>
          </a:prstGeom>
          <a:solidFill>
            <a:srgbClr val="1C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15400" y="1700784"/>
            <a:ext cx="249631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Calibri"/>
              </a:rPr>
              <a:t>Por qué ese nivel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029968"/>
            <a:ext cx="1828798" cy="914398"/>
          </a:xfrm>
          <a:prstGeom prst="rect">
            <a:avLst/>
          </a:prstGeom>
          <a:solidFill>
            <a:srgbClr val="EFF2F3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084832"/>
            <a:ext cx="1645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31424B"/>
                </a:solidFill>
                <a:latin typeface="Calibri"/>
              </a:rPr>
              <a:t>APO03 · gestión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14600" y="2029968"/>
            <a:ext cx="4571998" cy="914398"/>
          </a:xfrm>
          <a:prstGeom prst="rect">
            <a:avLst/>
          </a:prstGeom>
          <a:solidFill>
            <a:srgbClr val="EFF2F3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06040" y="2084832"/>
            <a:ext cx="43891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0">
                <a:solidFill>
                  <a:srgbClr val="31424B"/>
                </a:solidFill>
                <a:latin typeface="Calibri"/>
              </a:rPr>
              <a:t>El ARB entero: principios (03.01), repositorio (03.02), revisión R0 (03.03), R1 y R2 (03.04)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86600" y="2029968"/>
            <a:ext cx="1737358" cy="914398"/>
          </a:xfrm>
          <a:prstGeom prst="rect">
            <a:avLst/>
          </a:prstGeom>
          <a:solidFill>
            <a:srgbClr val="EFF2F3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78040" y="2084832"/>
            <a:ext cx="1554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0">
                <a:solidFill>
                  <a:srgbClr val="31424B"/>
                </a:solidFill>
                <a:latin typeface="Calibri"/>
              </a:rPr>
              <a:t>1 → 2 en 12 meses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23960" y="2029968"/>
            <a:ext cx="2679190" cy="914398"/>
          </a:xfrm>
          <a:prstGeom prst="rect">
            <a:avLst/>
          </a:prstGeom>
          <a:solidFill>
            <a:srgbClr val="EFF2F3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5400" y="2084832"/>
            <a:ext cx="249631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0">
                <a:solidFill>
                  <a:srgbClr val="31424B"/>
                </a:solidFill>
                <a:latin typeface="Calibri"/>
              </a:rPr>
              <a:t>Hoy hay actividades sueltas sin proceso; el nivel 3 exige medición estable que no existe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2944368"/>
            <a:ext cx="1828798" cy="777238"/>
          </a:xfrm>
          <a:prstGeom prst="rect">
            <a:avLst/>
          </a:prstGeom>
          <a:solidFill>
            <a:srgbClr val="FFFFFF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2999232"/>
            <a:ext cx="16459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31424B"/>
                </a:solidFill>
                <a:latin typeface="Calibri"/>
              </a:rPr>
              <a:t>APO12 · gestión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14600" y="2944368"/>
            <a:ext cx="4571998" cy="777238"/>
          </a:xfrm>
          <a:prstGeom prst="rect">
            <a:avLst/>
          </a:prstGeom>
          <a:solidFill>
            <a:srgbClr val="FFFFFF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06040" y="2999232"/>
            <a:ext cx="43891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0">
                <a:solidFill>
                  <a:srgbClr val="31424B"/>
                </a:solidFill>
                <a:latin typeface="Calibri"/>
              </a:rPr>
              <a:t>Cada excepción aceptada y los tres riesgos entran al registro de riesgos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86600" y="2944368"/>
            <a:ext cx="1737358" cy="777238"/>
          </a:xfrm>
          <a:prstGeom prst="rect">
            <a:avLst/>
          </a:prstGeom>
          <a:solidFill>
            <a:srgbClr val="FFFFFF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78040" y="2999232"/>
            <a:ext cx="1554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0">
                <a:solidFill>
                  <a:srgbClr val="31424B"/>
                </a:solidFill>
                <a:latin typeface="Calibri"/>
              </a:rPr>
              <a:t>1 → 2 en 12 meses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823960" y="2944368"/>
            <a:ext cx="2679190" cy="777238"/>
          </a:xfrm>
          <a:prstGeom prst="rect">
            <a:avLst/>
          </a:prstGeom>
          <a:solidFill>
            <a:srgbClr val="FFFFFF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15400" y="2999232"/>
            <a:ext cx="249631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0">
                <a:solidFill>
                  <a:srgbClr val="31424B"/>
                </a:solidFill>
                <a:latin typeface="Calibri"/>
              </a:rPr>
              <a:t>Hoy el riesgo se gestiona por proyecto, sin registro común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3721608"/>
            <a:ext cx="1828798" cy="777238"/>
          </a:xfrm>
          <a:prstGeom prst="rect">
            <a:avLst/>
          </a:prstGeom>
          <a:solidFill>
            <a:srgbClr val="EFF2F3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3776472"/>
            <a:ext cx="16459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31424B"/>
                </a:solidFill>
                <a:latin typeface="Calibri"/>
              </a:rPr>
              <a:t>EDM01 · gobierno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14600" y="3721608"/>
            <a:ext cx="4571998" cy="777238"/>
          </a:xfrm>
          <a:prstGeom prst="rect">
            <a:avLst/>
          </a:prstGeom>
          <a:solidFill>
            <a:srgbClr val="EFF2F3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06040" y="3776472"/>
            <a:ext cx="43891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0">
                <a:solidFill>
                  <a:srgbClr val="31424B"/>
                </a:solidFill>
                <a:latin typeface="Calibri"/>
              </a:rPr>
              <a:t>El acta del consejo directivo que crea el ARB y le da autoridad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86600" y="3721608"/>
            <a:ext cx="1737358" cy="777238"/>
          </a:xfrm>
          <a:prstGeom prst="rect">
            <a:avLst/>
          </a:prstGeom>
          <a:solidFill>
            <a:srgbClr val="EFF2F3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78040" y="3776472"/>
            <a:ext cx="1554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0">
                <a:solidFill>
                  <a:srgbClr val="31424B"/>
                </a:solidFill>
                <a:latin typeface="Calibri"/>
              </a:rPr>
              <a:t>1 → 2 en 6 meses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23960" y="3721608"/>
            <a:ext cx="2679190" cy="777238"/>
          </a:xfrm>
          <a:prstGeom prst="rect">
            <a:avLst/>
          </a:prstGeom>
          <a:solidFill>
            <a:srgbClr val="EFF2F3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15400" y="3776472"/>
            <a:ext cx="249631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0">
                <a:solidFill>
                  <a:srgbClr val="31424B"/>
                </a:solidFill>
                <a:latin typeface="Calibri"/>
              </a:rPr>
              <a:t>Da el mandato, pero no cuenta como objetivo de gestión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4800600"/>
            <a:ext cx="10820095" cy="822960"/>
          </a:xfrm>
          <a:prstGeom prst="rect">
            <a:avLst/>
          </a:prstGeom>
          <a:solidFill>
            <a:srgbClr val="1C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560" y="4956048"/>
            <a:ext cx="10088575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0">
                <a:solidFill>
                  <a:srgbClr val="FFFFFF"/>
                </a:solidFill>
                <a:latin typeface="Cambria"/>
              </a:rPr>
              <a:t>Nivel 2 significa que el proceso logra su propósito con un conjunto básico y completo de actividades. Proponer nivel 4 en el primer año es una señal de que no se entendió la escala.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6053328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A82"/>
                </a:solidFill>
                <a:latin typeface="Calibri"/>
              </a:rPr>
              <a:t>Niveles de capacidad de COBIT 2019: 0 a 5. Herramienta: Mapa COBIT · TOGAF · ITIL.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92608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2622C"/>
                </a:solidFill>
                <a:latin typeface="Calibri"/>
              </a:rPr>
              <a:t>EL HACER · TALLER EN SALAS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3035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C2B33"/>
                </a:solidFill>
                <a:latin typeface="Cambria"/>
              </a:rPr>
              <a:t>Un episodio de su organización, tres formatos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554480"/>
            <a:ext cx="566928" cy="932688"/>
          </a:xfrm>
          <a:prstGeom prst="rect">
            <a:avLst/>
          </a:prstGeom>
          <a:solidFill>
            <a:srgbClr val="C2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19656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1252728" y="1554480"/>
            <a:ext cx="10253167" cy="932688"/>
          </a:xfrm>
          <a:prstGeom prst="rect">
            <a:avLst/>
          </a:prstGeom>
          <a:solidFill>
            <a:srgbClr val="EF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1664208"/>
            <a:ext cx="9814255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1C2B33"/>
                </a:solidFill>
                <a:latin typeface="Calibri"/>
              </a:rPr>
              <a:t>1 · Elijan el episodio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31424B"/>
                </a:solidFill>
                <a:latin typeface="Calibri"/>
              </a:rPr>
              <a:t>Una decisión real de su organización que hoy nadie gobernó: una compra que duplicó algo, una integración de apuro, un sistema hecho por fuera de TI. Si usan Red Salud Andina, tomen uno distinto a los tres de hoy.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596896"/>
            <a:ext cx="566928" cy="932688"/>
          </a:xfrm>
          <a:prstGeom prst="rect">
            <a:avLst/>
          </a:prstGeom>
          <a:solidFill>
            <a:srgbClr val="C2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862072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52728" y="2596896"/>
            <a:ext cx="10253167" cy="932688"/>
          </a:xfrm>
          <a:prstGeom prst="rect">
            <a:avLst/>
          </a:prstGeom>
          <a:solidFill>
            <a:srgbClr val="EF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2706624"/>
            <a:ext cx="9814255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1C2B33"/>
                </a:solidFill>
                <a:latin typeface="Calibri"/>
              </a:rPr>
              <a:t>2 · El principio (F-23)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31424B"/>
                </a:solidFill>
                <a:latin typeface="Calibri"/>
              </a:rPr>
              <a:t>La regla escrita antes que lo habría evitado: enunciado, motivación con el hecho e implicaciones. Si les sobra tiempo, escriban un segundo principio.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639312"/>
            <a:ext cx="566928" cy="932688"/>
          </a:xfrm>
          <a:prstGeom prst="rect">
            <a:avLst/>
          </a:prstGeom>
          <a:solidFill>
            <a:srgbClr val="C2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90448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52728" y="3639312"/>
            <a:ext cx="10253167" cy="932688"/>
          </a:xfrm>
          <a:prstGeom prst="rect">
            <a:avLst/>
          </a:prstGeom>
          <a:solidFill>
            <a:srgbClr val="EF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3749040"/>
            <a:ext cx="9814255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1C2B33"/>
                </a:solidFill>
                <a:latin typeface="Calibri"/>
              </a:rPr>
              <a:t>3 · La pregunta y el dictamen (F-24)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31424B"/>
                </a:solidFill>
                <a:latin typeface="Calibri"/>
              </a:rPr>
              <a:t>La pregunta de la lista de revisión que lo detecta; el tipo de iniciativa; el momento en que se habría visto, y el dictamen. Si es excepción: vencimiento, dueño y plan de retorno.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681728"/>
            <a:ext cx="566928" cy="932688"/>
          </a:xfrm>
          <a:prstGeom prst="rect">
            <a:avLst/>
          </a:prstGeom>
          <a:solidFill>
            <a:srgbClr val="C2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946904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52728" y="4681728"/>
            <a:ext cx="10253167" cy="932688"/>
          </a:xfrm>
          <a:prstGeom prst="rect">
            <a:avLst/>
          </a:prstGeom>
          <a:solidFill>
            <a:srgbClr val="EF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4791456"/>
            <a:ext cx="9814255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1C2B33"/>
                </a:solidFill>
                <a:latin typeface="Calibri"/>
              </a:rPr>
              <a:t>4 · Las sillas (F-22)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31424B"/>
                </a:solidFill>
                <a:latin typeface="Calibri"/>
              </a:rPr>
              <a:t>Quién tenía que estar en esa decisión, con el cargo real de su organización, y cuántas horas al mes cuesta el ARB completo.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053328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A82"/>
                </a:solidFill>
                <a:latin typeface="Calibri"/>
              </a:rPr>
              <a:t>Herramientas abiertas al lado: Diseñador de ARB y Compliance Review, con «Empezar con el caso del grupo». Enunciado: https://cesaravegaf312.github.io/AREM-S3_Gobierno_y_Control/documentos/1_actividad_3_2/AREM_S3_Enunciado_Actividad_3_2.pdf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92608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2622C"/>
                </a:solidFill>
                <a:latin typeface="Calibri"/>
              </a:rPr>
              <a:t>PARA TENER AL LADO DURANTE EL TALLER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3035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C2B33"/>
                </a:solidFill>
                <a:latin typeface="Cambria"/>
              </a:rPr>
              <a:t>Cómo se llena mal y cómo bien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00200"/>
            <a:ext cx="1737358" cy="658368"/>
          </a:xfrm>
          <a:prstGeom prst="rect">
            <a:avLst/>
          </a:prstGeom>
          <a:solidFill>
            <a:srgbClr val="1C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655064"/>
            <a:ext cx="155448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Campo</a:t>
            </a:r>
          </a:p>
        </p:txBody>
      </p:sp>
      <p:sp>
        <p:nvSpPr>
          <p:cNvPr id="6" name="Rectangle 5"/>
          <p:cNvSpPr/>
          <p:nvPr/>
        </p:nvSpPr>
        <p:spPr>
          <a:xfrm>
            <a:off x="2423160" y="1600200"/>
            <a:ext cx="2834638" cy="658368"/>
          </a:xfrm>
          <a:prstGeom prst="rect">
            <a:avLst/>
          </a:prstGeom>
          <a:solidFill>
            <a:srgbClr val="1C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14600" y="1655064"/>
            <a:ext cx="2651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Así no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800" y="1600200"/>
            <a:ext cx="3840478" cy="658368"/>
          </a:xfrm>
          <a:prstGeom prst="rect">
            <a:avLst/>
          </a:prstGeom>
          <a:solidFill>
            <a:srgbClr val="1C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49240" y="1655064"/>
            <a:ext cx="365760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Así sí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98280" y="1600200"/>
            <a:ext cx="2404870" cy="658368"/>
          </a:xfrm>
          <a:prstGeom prst="rect">
            <a:avLst/>
          </a:prstGeom>
          <a:solidFill>
            <a:srgbClr val="1C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89720" y="1655064"/>
            <a:ext cx="222199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Por qué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258568"/>
            <a:ext cx="1737358" cy="658366"/>
          </a:xfrm>
          <a:prstGeom prst="rect">
            <a:avLst/>
          </a:prstGeom>
          <a:solidFill>
            <a:srgbClr val="EFF2F3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13432"/>
            <a:ext cx="15544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31424B"/>
                </a:solidFill>
                <a:latin typeface="Calibri"/>
              </a:rPr>
              <a:t>Principio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23160" y="2258568"/>
            <a:ext cx="2834638" cy="658366"/>
          </a:xfrm>
          <a:prstGeom prst="rect">
            <a:avLst/>
          </a:prstGeom>
          <a:solidFill>
            <a:srgbClr val="EFF2F3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14600" y="2313432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31424B"/>
                </a:solidFill>
                <a:latin typeface="Calibri"/>
              </a:rPr>
              <a:t>«La información es un activo»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57800" y="2258568"/>
            <a:ext cx="3840478" cy="658366"/>
          </a:xfrm>
          <a:prstGeom prst="rect">
            <a:avLst/>
          </a:prstGeom>
          <a:solidFill>
            <a:srgbClr val="EFF2F3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9240" y="2313432"/>
            <a:ext cx="3657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31424B"/>
                </a:solidFill>
                <a:latin typeface="Calibri"/>
              </a:rPr>
              <a:t>«Se integra por contrato, nunca por la base de datos»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98280" y="2258568"/>
            <a:ext cx="2404870" cy="658366"/>
          </a:xfrm>
          <a:prstGeom prst="rect">
            <a:avLst/>
          </a:prstGeom>
          <a:solidFill>
            <a:srgbClr val="EFF2F3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9720" y="2313432"/>
            <a:ext cx="222199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31424B"/>
                </a:solidFill>
                <a:latin typeface="Calibri"/>
              </a:rPr>
              <a:t>Si nadie estaría en desacuerdo, no restringe nada.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2916936"/>
            <a:ext cx="1737358" cy="658366"/>
          </a:xfrm>
          <a:prstGeom prst="rect">
            <a:avLst/>
          </a:prstGeom>
          <a:solidFill>
            <a:srgbClr val="FFFFFF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2971800"/>
            <a:ext cx="15544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31424B"/>
                </a:solidFill>
                <a:latin typeface="Calibri"/>
              </a:rPr>
              <a:t>Motivación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23160" y="2916936"/>
            <a:ext cx="2834638" cy="658366"/>
          </a:xfrm>
          <a:prstGeom prst="rect">
            <a:avLst/>
          </a:prstGeom>
          <a:solidFill>
            <a:srgbClr val="FFFFFF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14600" y="2971800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31424B"/>
                </a:solidFill>
                <a:latin typeface="Calibri"/>
              </a:rPr>
              <a:t>«Es una buena práctica»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257800" y="2916936"/>
            <a:ext cx="3840478" cy="658366"/>
          </a:xfrm>
          <a:prstGeom prst="rect">
            <a:avLst/>
          </a:prstGeom>
          <a:solidFill>
            <a:srgbClr val="FFFFFF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49240" y="2971800"/>
            <a:ext cx="3657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31424B"/>
                </a:solidFill>
                <a:latin typeface="Calibri"/>
              </a:rPr>
              <a:t>Tres días sin facturar tras un cambio de esquema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98280" y="2916936"/>
            <a:ext cx="2404870" cy="658366"/>
          </a:xfrm>
          <a:prstGeom prst="rect">
            <a:avLst/>
          </a:prstGeom>
          <a:solidFill>
            <a:srgbClr val="FFFFFF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89720" y="2971800"/>
            <a:ext cx="222199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31424B"/>
                </a:solidFill>
                <a:latin typeface="Calibri"/>
              </a:rPr>
              <a:t>La motivación es un hecho del caso.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3575304"/>
            <a:ext cx="1737358" cy="658366"/>
          </a:xfrm>
          <a:prstGeom prst="rect">
            <a:avLst/>
          </a:prstGeom>
          <a:solidFill>
            <a:srgbClr val="EFF2F3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3630168"/>
            <a:ext cx="15544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31424B"/>
                </a:solidFill>
                <a:latin typeface="Calibri"/>
              </a:rPr>
              <a:t>Pregunta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23160" y="3575304"/>
            <a:ext cx="2834638" cy="658366"/>
          </a:xfrm>
          <a:prstGeom prst="rect">
            <a:avLst/>
          </a:prstGeom>
          <a:solidFill>
            <a:srgbClr val="EFF2F3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14600" y="3630168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31424B"/>
                </a:solidFill>
                <a:latin typeface="Calibri"/>
              </a:rPr>
              <a:t>«¿Cumple la arquitectura?»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57800" y="3575304"/>
            <a:ext cx="3840478" cy="658366"/>
          </a:xfrm>
          <a:prstGeom prst="rect">
            <a:avLst/>
          </a:prstGeom>
          <a:solidFill>
            <a:srgbClr val="EFF2F3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49240" y="3630168"/>
            <a:ext cx="3657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31424B"/>
                </a:solidFill>
                <a:latin typeface="Calibri"/>
              </a:rPr>
              <a:t>«¿Alguna integración lee la base de otro sistema?» → P3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98280" y="3575304"/>
            <a:ext cx="2404870" cy="658366"/>
          </a:xfrm>
          <a:prstGeom prst="rect">
            <a:avLst/>
          </a:prstGeom>
          <a:solidFill>
            <a:srgbClr val="EFF2F3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89720" y="3630168"/>
            <a:ext cx="222199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31424B"/>
                </a:solidFill>
                <a:latin typeface="Calibri"/>
              </a:rPr>
              <a:t>Cada pregunta, atada a un principio.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4233672"/>
            <a:ext cx="1737358" cy="658366"/>
          </a:xfrm>
          <a:prstGeom prst="rect">
            <a:avLst/>
          </a:prstGeom>
          <a:solidFill>
            <a:srgbClr val="FFFFFF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4288536"/>
            <a:ext cx="15544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31424B"/>
                </a:solidFill>
                <a:latin typeface="Calibri"/>
              </a:rPr>
              <a:t>Excepción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23160" y="4233672"/>
            <a:ext cx="2834638" cy="658366"/>
          </a:xfrm>
          <a:prstGeom prst="rect">
            <a:avLst/>
          </a:prstGeom>
          <a:solidFill>
            <a:srgbClr val="FFFFFF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14600" y="4288536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31424B"/>
                </a:solidFill>
                <a:latin typeface="Calibri"/>
              </a:rPr>
              <a:t>«Se aprueba temporalmente»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57800" y="4233672"/>
            <a:ext cx="3840478" cy="658366"/>
          </a:xfrm>
          <a:prstGeom prst="rect">
            <a:avLst/>
          </a:prstGeom>
          <a:solidFill>
            <a:srgbClr val="FFFFFF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49240" y="4288536"/>
            <a:ext cx="3657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31424B"/>
                </a:solidFill>
                <a:latin typeface="Calibri"/>
              </a:rPr>
              <a:t>4 meses, dueño, plan de retorno, partida de deuda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098280" y="4233672"/>
            <a:ext cx="2404870" cy="658366"/>
          </a:xfrm>
          <a:prstGeom prst="rect">
            <a:avLst/>
          </a:prstGeom>
          <a:solidFill>
            <a:srgbClr val="FFFFFF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89720" y="4288536"/>
            <a:ext cx="222199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31424B"/>
                </a:solidFill>
                <a:latin typeface="Calibri"/>
              </a:rPr>
              <a:t>Sin fecha, la excepción es permanente.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5800" y="4892040"/>
            <a:ext cx="1737358" cy="658366"/>
          </a:xfrm>
          <a:prstGeom prst="rect">
            <a:avLst/>
          </a:prstGeom>
          <a:solidFill>
            <a:srgbClr val="EFF2F3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4946904"/>
            <a:ext cx="15544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31424B"/>
                </a:solidFill>
                <a:latin typeface="Calibri"/>
              </a:rPr>
              <a:t>Silla del ARB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423160" y="4892040"/>
            <a:ext cx="2834638" cy="658366"/>
          </a:xfrm>
          <a:prstGeom prst="rect">
            <a:avLst/>
          </a:prstGeom>
          <a:solidFill>
            <a:srgbClr val="EFF2F3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14600" y="4946904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31424B"/>
                </a:solidFill>
                <a:latin typeface="Calibri"/>
              </a:rPr>
              <a:t>«Arquitecto de datos» (no existe)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57800" y="4892040"/>
            <a:ext cx="3840478" cy="658366"/>
          </a:xfrm>
          <a:prstGeom prst="rect">
            <a:avLst/>
          </a:prstGeom>
          <a:solidFill>
            <a:srgbClr val="EFF2F3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349240" y="4946904"/>
            <a:ext cx="3657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31424B"/>
                </a:solidFill>
                <a:latin typeface="Calibri"/>
              </a:rPr>
              <a:t>Delegado de la Dirección médica · 6 h/mes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098280" y="4892040"/>
            <a:ext cx="2404870" cy="658366"/>
          </a:xfrm>
          <a:prstGeom prst="rect">
            <a:avLst/>
          </a:prstGeom>
          <a:solidFill>
            <a:srgbClr val="EFF2F3"/>
          </a:solidFill>
          <a:ln>
            <a:solidFill>
              <a:srgbClr val="CF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89720" y="4946904"/>
            <a:ext cx="222199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31424B"/>
                </a:solidFill>
                <a:latin typeface="Calibri"/>
              </a:rPr>
              <a:t>Si la silla no tiene cargo real, el ARB no existe.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6053328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A82"/>
                </a:solidFill>
                <a:latin typeface="Calibri"/>
              </a:rPr>
              <a:t>Prohibido un ARB de diez personas en una organización con un arquitecto.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92608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2622C"/>
                </a:solidFill>
                <a:latin typeface="Calibri"/>
              </a:rPr>
              <a:t>PUESTA EN COMÚN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3035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C2B33"/>
                </a:solidFill>
                <a:latin typeface="Cambria"/>
              </a:rPr>
              <a:t>Dos grupos muestran; dos correcciones para todos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5295747" cy="420624"/>
          </a:xfrm>
          <a:prstGeom prst="rect">
            <a:avLst/>
          </a:prstGeom>
          <a:solidFill>
            <a:srgbClr val="C2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1737360"/>
            <a:ext cx="496656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Cambria"/>
              </a:rPr>
              <a:t>El principio que nadie discute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066544"/>
            <a:ext cx="5295747" cy="1956816"/>
          </a:xfrm>
          <a:prstGeom prst="rect">
            <a:avLst/>
          </a:prstGeom>
          <a:solidFill>
            <a:srgbClr val="EF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194560"/>
            <a:ext cx="4966563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50" b="0">
                <a:solidFill>
                  <a:srgbClr val="31424B"/>
                </a:solidFill>
                <a:latin typeface="Calibri"/>
              </a:rPr>
              <a:t>«La seguridad es lo primero», «la información es un activo».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31424B"/>
                </a:solidFill>
                <a:latin typeface="Calibri"/>
              </a:rPr>
              <a:t>Síntoma para reconocerlo solos: no pueden nombrar un proyecto que ese principio habría detenido.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0147" y="1645920"/>
            <a:ext cx="5295747" cy="420624"/>
          </a:xfrm>
          <a:prstGeom prst="rect">
            <a:avLst/>
          </a:prstGeom>
          <a:solidFill>
            <a:srgbClr val="467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4739" y="1737360"/>
            <a:ext cx="496656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Cambria"/>
              </a:rPr>
              <a:t>La excepción eterna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2066544"/>
            <a:ext cx="5295747" cy="1956816"/>
          </a:xfrm>
          <a:prstGeom prst="rect">
            <a:avLst/>
          </a:prstGeom>
          <a:solidFill>
            <a:srgbClr val="EF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4739" y="2194560"/>
            <a:ext cx="4966563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50" b="0">
                <a:solidFill>
                  <a:srgbClr val="31424B"/>
                </a:solidFill>
                <a:latin typeface="Calibri"/>
              </a:rPr>
              <a:t>«Se aprueba mientras se implementa la solución definitiva.»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31424B"/>
                </a:solidFill>
                <a:latin typeface="Calibri"/>
              </a:rPr>
              <a:t>Síntoma: no tiene fecha. En un año, la excepción es la arquitectura.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297680"/>
            <a:ext cx="10820095" cy="731520"/>
          </a:xfrm>
          <a:prstGeom prst="rect">
            <a:avLst/>
          </a:prstGeom>
          <a:solidFill>
            <a:srgbClr val="1C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453128"/>
            <a:ext cx="1008857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Cambria"/>
              </a:rPr>
              <a:t>Dos grupos cuentan su episodio en dos minutos: qué pasó, qué principio escribieron y qué dictamen habría recibido.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053328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A82"/>
                </a:solidFill>
                <a:latin typeface="Calibri"/>
              </a:rPr>
              <a:t>Si un grupo no encontró ningún episodio, es la señal de que todavía no miró el gobierno real de su organización.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92608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2622C"/>
                </a:solidFill>
                <a:latin typeface="Calibri"/>
              </a:rPr>
              <a:t>CIERRE · QUÉ SIGUE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3035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C2B33"/>
                </a:solidFill>
                <a:latin typeface="Cambria"/>
              </a:rPr>
              <a:t>Lo que se llevan hoy y lo que falta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00200"/>
            <a:ext cx="5295747" cy="420624"/>
          </a:xfrm>
          <a:prstGeom prst="rect">
            <a:avLst/>
          </a:prstGeom>
          <a:solidFill>
            <a:srgbClr val="467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1691640"/>
            <a:ext cx="496656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Cambria"/>
              </a:rPr>
              <a:t>Lo que ya tienen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020824"/>
            <a:ext cx="5295747" cy="2596896"/>
          </a:xfrm>
          <a:prstGeom prst="rect">
            <a:avLst/>
          </a:prstGeom>
          <a:solidFill>
            <a:srgbClr val="EF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148840"/>
            <a:ext cx="4966563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1424B"/>
                </a:solidFill>
                <a:latin typeface="Calibri"/>
              </a:rPr>
              <a:t>Un principio con su motivación (F-23) · una pregunta de revisión con su dictamen (F-24) · las sillas del ARB con sus horas (F-22).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1424B"/>
                </a:solidFill>
                <a:latin typeface="Calibri"/>
              </a:rPr>
              <a:t>Es el borrador de las secciones 2, 3 y 4: </a:t>
            </a:r>
            <a:r>
              <a:rPr sz="1300" b="1">
                <a:solidFill>
                  <a:srgbClr val="31424B"/>
                </a:solidFill>
                <a:latin typeface="Calibri"/>
              </a:rPr>
              <a:t>3,0 de los 5,0 puntos</a:t>
            </a:r>
            <a:r>
              <a:rPr sz="1300" b="0">
                <a:solidFill>
                  <a:srgbClr val="31424B"/>
                </a:solidFill>
                <a:latin typeface="Calibri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0147" y="1600200"/>
            <a:ext cx="5295747" cy="420624"/>
          </a:xfrm>
          <a:prstGeom prst="rect">
            <a:avLst/>
          </a:prstGeom>
          <a:solidFill>
            <a:srgbClr val="C2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4739" y="1691640"/>
            <a:ext cx="496656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Cambria"/>
              </a:rPr>
              <a:t>Lo que falta, fuera de clase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2020824"/>
            <a:ext cx="5295747" cy="2596896"/>
          </a:xfrm>
          <a:prstGeom prst="rect">
            <a:avLst/>
          </a:prstGeom>
          <a:solidFill>
            <a:srgbClr val="EF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4739" y="2148840"/>
            <a:ext cx="4966563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1424B"/>
                </a:solidFill>
                <a:latin typeface="Calibri"/>
              </a:rPr>
              <a:t>Completar los ocho principios y el proceso · </a:t>
            </a:r>
            <a:r>
              <a:rPr sz="1300" b="1">
                <a:solidFill>
                  <a:srgbClr val="31424B"/>
                </a:solidFill>
                <a:latin typeface="Calibri"/>
              </a:rPr>
              <a:t>F-25</a:t>
            </a:r>
            <a:r>
              <a:rPr sz="1300" b="0">
                <a:solidFill>
                  <a:srgbClr val="31424B"/>
                </a:solidFill>
                <a:latin typeface="Calibri"/>
              </a:rPr>
              <a:t>: APO03 y otro objetivo de gestión · </a:t>
            </a:r>
            <a:r>
              <a:rPr sz="1300" b="1">
                <a:solidFill>
                  <a:srgbClr val="31424B"/>
                </a:solidFill>
                <a:latin typeface="Calibri"/>
              </a:rPr>
              <a:t>F-26</a:t>
            </a:r>
            <a:r>
              <a:rPr sz="1300" b="0">
                <a:solidFill>
                  <a:srgbClr val="31424B"/>
                </a:solidFill>
                <a:latin typeface="Calibri"/>
              </a:rPr>
              <a:t>: cinco métricas y tres riesgos.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1424B"/>
                </a:solidFill>
                <a:latin typeface="Calibri"/>
              </a:rPr>
              <a:t>Antes de subir: </a:t>
            </a:r>
            <a:r>
              <a:rPr sz="1300" b="1">
                <a:solidFill>
                  <a:srgbClr val="31424B"/>
                </a:solidFill>
                <a:latin typeface="Calibri"/>
              </a:rPr>
              <a:t>F-28</a:t>
            </a:r>
            <a:r>
              <a:rPr sz="1300" b="0">
                <a:solidFill>
                  <a:srgbClr val="31424B"/>
                </a:solidFill>
                <a:latin typeface="Calibri"/>
              </a:rPr>
              <a:t>, la lista de verificación. Y la </a:t>
            </a:r>
            <a:r>
              <a:rPr sz="1300" b="1">
                <a:solidFill>
                  <a:srgbClr val="31424B"/>
                </a:solidFill>
                <a:latin typeface="Calibri"/>
              </a:rPr>
              <a:t>3.1</a:t>
            </a:r>
            <a:r>
              <a:rPr sz="1300" b="0">
                <a:solidFill>
                  <a:srgbClr val="31424B"/>
                </a:solidFill>
                <a:latin typeface="Calibri"/>
              </a:rPr>
              <a:t>, individual, con el F-21.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846320"/>
            <a:ext cx="10820095" cy="777240"/>
          </a:xfrm>
          <a:prstGeom prst="rect">
            <a:avLst/>
          </a:prstGeom>
          <a:solidFill>
            <a:srgbClr val="1C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5001768"/>
            <a:ext cx="1008857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Cambria"/>
              </a:rPr>
              <a:t>Empiecen por el mapa de la Actividad 3.2 y el documento de ejemplo: https://cesaravegaf312.github.io/AREM-S3_Gobierno_y_Control/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053328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A82"/>
                </a:solidFill>
                <a:latin typeface="Calibri"/>
              </a:rPr>
              <a:t>De los ejemplos se copia la estructura, nunca el contenido. Su documento es sobre su organización.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92608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2622C"/>
                </a:solidFill>
                <a:latin typeface="Calibri"/>
              </a:rPr>
              <a:t>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3035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C2B33"/>
                </a:solidFill>
                <a:latin typeface="Cambria"/>
              </a:rPr>
              <a:t>Fuentes de la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10820095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50" b="0">
                <a:solidFill>
                  <a:srgbClr val="31424B"/>
                </a:solidFill>
                <a:latin typeface="Calibri"/>
              </a:rPr>
              <a:t>Axelos. (2019). ITIL® foundation: ITIL 4 edition. TSO.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31424B"/>
                </a:solidFill>
                <a:latin typeface="Calibri"/>
              </a:rPr>
              <a:t>Colombia, Congreso de la República. (2012). Ley 1581 de 2012, por la cual se dictan disposiciones generales para la protección de datos personales.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31424B"/>
                </a:solidFill>
                <a:latin typeface="Calibri"/>
              </a:rPr>
              <a:t>Colombia, Congreso de la República. (2020). Ley 2015 de 2020, por medio de la cual se crea la historia clínica electrónica interoperable.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31424B"/>
                </a:solidFill>
                <a:latin typeface="Calibri"/>
              </a:rPr>
              <a:t>Hohpe, G. (2020). The software architect elevator: Redefining the architect's role in the digital enterprise. O'Reilly Media.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31424B"/>
                </a:solidFill>
                <a:latin typeface="Calibri"/>
              </a:rPr>
              <a:t>ISACA. (2018). COBIT® 2019 framework: Governance and management objectives. ISACA.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31424B"/>
                </a:solidFill>
                <a:latin typeface="Calibri"/>
              </a:rPr>
              <a:t>Ministerio de Salud y Protección Social. (2021). Resolución 866 de 2021.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31424B"/>
                </a:solidFill>
                <a:latin typeface="Calibri"/>
              </a:rPr>
              <a:t>Ministerio de Salud y Protección Social. (2023). Resolución 2275 de 2023.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31424B"/>
                </a:solidFill>
                <a:latin typeface="Calibri"/>
              </a:rPr>
              <a:t>Ministerio de Salud y Protección Social. (2025). Resolución 1888 de 2025, por medio de la cual se adopta el Resumen Digital de Atención en Salud (RDA).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31424B"/>
                </a:solidFill>
                <a:latin typeface="Calibri"/>
              </a:rPr>
              <a:t>Ministerio de Tecnologías de la Información y las Comunicaciones. (2022). Decreto 767 de 2022.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31424B"/>
                </a:solidFill>
                <a:latin typeface="Calibri"/>
              </a:rPr>
              <a:t>Ministerio de Tecnologías de la Información y las Comunicaciones. (2023). Resolución 1978 de 2023, por la cual se adopta el Marco de Referencia de Arquitectura Empresarial.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31424B"/>
                </a:solidFill>
                <a:latin typeface="Calibri"/>
              </a:rPr>
              <a:t>The Open Group. (2022). The TOGAF® standard, 10th edition: Enterprise architecture capability and governance. Van Haren Publishing.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31424B"/>
                </a:solidFill>
                <a:latin typeface="Calibri"/>
              </a:rPr>
              <a:t>Vega Fernández, C. A. (2026). Red Salud Andina: dossier del caso de respaldo [Material docente]. Universidad de La Sabana.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